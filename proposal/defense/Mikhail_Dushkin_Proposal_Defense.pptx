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a9b5896bb14e5a" /><Relationship Type="http://schemas.openxmlformats.org/officeDocument/2006/relationships/extended-properties" Target="/docProps/app.xml" Id="R32c3fcca54bd4bf9" /><Relationship Type="http://schemas.openxmlformats.org/officeDocument/2006/relationships/officeDocument" Target="/ppt/presentation.xml" Id="Rf9c6ed32e8184d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104e4036af45d2"/>
  </p:sldMasterIdLst>
  <p:notesMasterIdLst>
    <p:notesMasterId xmlns:r="http://schemas.openxmlformats.org/officeDocument/2006/relationships" r:id="Rb5daabb5daab4227"/>
  </p:notesMasterIdLst>
  <p:sldIdLst>
    <p:sldId xmlns:r="http://schemas.openxmlformats.org/officeDocument/2006/relationships" id="256" r:id="R6ebeaba17e394a15"/>
    <p:sldId xmlns:r="http://schemas.openxmlformats.org/officeDocument/2006/relationships" id="257" r:id="R18ed815844e24678"/>
    <p:sldId xmlns:r="http://schemas.openxmlformats.org/officeDocument/2006/relationships" id="258" r:id="R22183fc8389f40b6"/>
    <p:sldId xmlns:r="http://schemas.openxmlformats.org/officeDocument/2006/relationships" id="259" r:id="R025fc80684794e6c"/>
    <p:sldId xmlns:r="http://schemas.openxmlformats.org/officeDocument/2006/relationships" id="260" r:id="Rab5b0009f8cd41af"/>
    <p:sldId xmlns:r="http://schemas.openxmlformats.org/officeDocument/2006/relationships" id="261" r:id="Rd734d70350ee47ba"/>
    <p:sldId xmlns:r="http://schemas.openxmlformats.org/officeDocument/2006/relationships" id="262" r:id="R5946d3f925d441e5"/>
    <p:sldId xmlns:r="http://schemas.openxmlformats.org/officeDocument/2006/relationships" id="263" r:id="R1ed79f25088d43b0"/>
    <p:sldId xmlns:r="http://schemas.openxmlformats.org/officeDocument/2006/relationships" id="264" r:id="R0845fce820c64397"/>
    <p:sldId xmlns:r="http://schemas.openxmlformats.org/officeDocument/2006/relationships" id="265" r:id="Rd8422ef3875542f3"/>
    <p:sldId xmlns:r="http://schemas.openxmlformats.org/officeDocument/2006/relationships" id="266" r:id="R2c13ec4694384cd7"/>
    <p:sldId xmlns:r="http://schemas.openxmlformats.org/officeDocument/2006/relationships" id="267" r:id="Rf87761d98fef4109"/>
    <p:sldId xmlns:r="http://schemas.openxmlformats.org/officeDocument/2006/relationships" id="268" r:id="R39a41f4cce0f4a12"/>
    <p:sldId xmlns:r="http://schemas.openxmlformats.org/officeDocument/2006/relationships" id="269" r:id="Rb9bff8e0ee6a43d2"/>
    <p:sldId xmlns:r="http://schemas.openxmlformats.org/officeDocument/2006/relationships" id="270" r:id="R87740c14ede14f60"/>
    <p:sldId xmlns:r="http://schemas.openxmlformats.org/officeDocument/2006/relationships" id="271" r:id="Re362ad3d119b4f96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8100" cy="381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f81566b6ec4ea3" /><Relationship Type="http://schemas.openxmlformats.org/officeDocument/2006/relationships/slideMaster" Target="/ppt/slideMasters/slideMaster1.xml" Id="R00104e4036af45d2" /><Relationship Type="http://schemas.openxmlformats.org/officeDocument/2006/relationships/notesMaster" Target="/ppt/notesMasters/notesMaster1.xml" Id="Rb5daabb5daab4227" /><Relationship Type="http://schemas.openxmlformats.org/officeDocument/2006/relationships/presProps" Target="/ppt/presProps.xml" Id="R47bd4bb4e8e44587" /><Relationship Type="http://schemas.openxmlformats.org/officeDocument/2006/relationships/viewProps" Target="/ppt/viewProps.xml" Id="Rc498026b8efc437a" /><Relationship Type="http://schemas.openxmlformats.org/officeDocument/2006/relationships/tableStyles" Target="/ppt/tableStyles.xml" Id="R72ce6227969441e4" /><Relationship Type="http://schemas.openxmlformats.org/officeDocument/2006/relationships/slide" Target="/ppt/slides/slide1.xml" Id="R6ebeaba17e394a15" /><Relationship Type="http://schemas.openxmlformats.org/officeDocument/2006/relationships/slide" Target="/ppt/slides/slide2.xml" Id="R18ed815844e24678" /><Relationship Type="http://schemas.openxmlformats.org/officeDocument/2006/relationships/slide" Target="/ppt/slides/slide3.xml" Id="R22183fc8389f40b6" /><Relationship Type="http://schemas.openxmlformats.org/officeDocument/2006/relationships/slide" Target="/ppt/slides/slide4.xml" Id="R025fc80684794e6c" /><Relationship Type="http://schemas.openxmlformats.org/officeDocument/2006/relationships/slide" Target="/ppt/slides/slide5.xml" Id="Rab5b0009f8cd41af" /><Relationship Type="http://schemas.openxmlformats.org/officeDocument/2006/relationships/slide" Target="/ppt/slides/slide6.xml" Id="Rd734d70350ee47ba" /><Relationship Type="http://schemas.openxmlformats.org/officeDocument/2006/relationships/slide" Target="/ppt/slides/slide7.xml" Id="R5946d3f925d441e5" /><Relationship Type="http://schemas.openxmlformats.org/officeDocument/2006/relationships/slide" Target="/ppt/slides/slide8.xml" Id="R1ed79f25088d43b0" /><Relationship Type="http://schemas.openxmlformats.org/officeDocument/2006/relationships/slide" Target="/ppt/slides/slide9.xml" Id="R0845fce820c64397" /><Relationship Type="http://schemas.openxmlformats.org/officeDocument/2006/relationships/slide" Target="/ppt/slides/slide10.xml" Id="Rd8422ef3875542f3" /><Relationship Type="http://schemas.openxmlformats.org/officeDocument/2006/relationships/slide" Target="/ppt/slides/slide11.xml" Id="R2c13ec4694384cd7" /><Relationship Type="http://schemas.openxmlformats.org/officeDocument/2006/relationships/slide" Target="/ppt/slides/slide12.xml" Id="Rf87761d98fef4109" /><Relationship Type="http://schemas.openxmlformats.org/officeDocument/2006/relationships/slide" Target="/ppt/slides/slide13.xml" Id="R39a41f4cce0f4a12" /><Relationship Type="http://schemas.openxmlformats.org/officeDocument/2006/relationships/slide" Target="/ppt/slides/slide14.xml" Id="Rb9bff8e0ee6a43d2" /><Relationship Type="http://schemas.openxmlformats.org/officeDocument/2006/relationships/slide" Target="/ppt/slides/slide15.xml" Id="R87740c14ede14f60" /><Relationship Type="http://schemas.openxmlformats.org/officeDocument/2006/relationships/slide" Target="/ppt/slides/slide16.xml" Id="Re362ad3d119b4f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4868bce91c4e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ACEM">
      <a:dk1>
        <a:sysClr val="windowText" lastClr="000000"/>
      </a:dk1>
      <a:lt1>
        <a:sysClr val="window" lastClr="FFFFFF"/>
      </a:lt1>
      <a:dk2>
        <a:srgbClr val="575757"/>
      </a:dk2>
      <a:lt2>
        <a:srgbClr val="D6C4A6"/>
      </a:lt2>
      <a:accent1>
        <a:srgbClr val="B81C22"/>
      </a:accent1>
      <a:accent2>
        <a:srgbClr val="D55816"/>
      </a:accent2>
      <a:accent3>
        <a:srgbClr val="B88C50"/>
      </a:accent3>
      <a:accent4>
        <a:srgbClr val="A89A7C"/>
      </a:accent4>
      <a:accent5>
        <a:srgbClr val="7F5F52"/>
      </a:accent5>
      <a:accent6>
        <a:srgbClr val="254865"/>
      </a:accent6>
      <a:hlink>
        <a:srgbClr val="6B9F25"/>
      </a:hlink>
      <a:folHlink>
        <a:srgbClr val="E5C243"/>
      </a:folHlink>
    </a:clrScheme>
    <a:fontScheme name="ACEM office">
      <a:majorFont>
        <a:latin typeface="Arial Black"/>
        <a:ea typeface="Microsoft YaHei"/>
        <a:cs typeface=""/>
      </a:majorFont>
      <a:minorFont>
        <a:latin typeface="Arial"/>
        <a:ea typeface="Microsoft YaHei Light"/>
        <a:cs typeface=""/>
      </a:minorFont>
    </a:fontScheme>
    <a:fmtScheme name="ACEM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c0c41261e845c1" /><Relationship Type="http://schemas.openxmlformats.org/officeDocument/2006/relationships/notesMaster" Target="/ppt/notesMasters/notesMaster1.xml" Id="R73670c2bd2f04e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68a8503ad846fe" /><Relationship Type="http://schemas.openxmlformats.org/officeDocument/2006/relationships/notesMaster" Target="/ppt/notesMasters/notesMaster1.xml" Id="R2291bb1de58c46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83d71e2d8d484a" /><Relationship Type="http://schemas.openxmlformats.org/officeDocument/2006/relationships/notesMaster" Target="/ppt/notesMasters/notesMaster1.xml" Id="Rd68299756ecd43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6f0f6f53ce4ec3" /><Relationship Type="http://schemas.openxmlformats.org/officeDocument/2006/relationships/notesMaster" Target="/ppt/notesMasters/notesMaster1.xml" Id="R9af2e54fc97743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bae1db0cf64da3" /><Relationship Type="http://schemas.openxmlformats.org/officeDocument/2006/relationships/notesMaster" Target="/ppt/notesMasters/notesMaster1.xml" Id="R17a4f306423342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0fd115bd774d3c" /><Relationship Type="http://schemas.openxmlformats.org/officeDocument/2006/relationships/notesMaster" Target="/ppt/notesMasters/notesMaster1.xml" Id="Rb5dee0f6b1b34d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e8e03867e8475c" /><Relationship Type="http://schemas.openxmlformats.org/officeDocument/2006/relationships/notesMaster" Target="/ppt/notesMasters/notesMaster1.xml" Id="R2494f93258cc4d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651c788ea84e78" /><Relationship Type="http://schemas.openxmlformats.org/officeDocument/2006/relationships/notesMaster" Target="/ppt/notesMasters/notesMaster1.xml" Id="Rfde0ec4d2c1a42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fd8ef9debf4cb9" /><Relationship Type="http://schemas.openxmlformats.org/officeDocument/2006/relationships/notesMaster" Target="/ppt/notesMasters/notesMaster1.xml" Id="Ree114e6b440946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ff0fd29e774b36" /><Relationship Type="http://schemas.openxmlformats.org/officeDocument/2006/relationships/notesMaster" Target="/ppt/notesMasters/notesMaster1.xml" Id="R4e3460fe44174a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c021639be0476c" /><Relationship Type="http://schemas.openxmlformats.org/officeDocument/2006/relationships/notesMaster" Target="/ppt/notesMasters/notesMaster1.xml" Id="R4fa38efc41bb40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996f5cbef9431c" /><Relationship Type="http://schemas.openxmlformats.org/officeDocument/2006/relationships/notesMaster" Target="/ppt/notesMasters/notesMaster1.xml" Id="R26c7bcdf8dc54e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547947757b4214" /><Relationship Type="http://schemas.openxmlformats.org/officeDocument/2006/relationships/notesMaster" Target="/ppt/notesMasters/notesMaster1.xml" Id="R1dbb0c15a60640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a8f618e15d4e6c" /><Relationship Type="http://schemas.openxmlformats.org/officeDocument/2006/relationships/notesMaster" Target="/ppt/notesMasters/notesMaster1.xml" Id="R1172ea03bc2d46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6c30a4d5b24856" /><Relationship Type="http://schemas.openxmlformats.org/officeDocument/2006/relationships/notesMaster" Target="/ppt/notesMasters/notesMaster1.xml" Id="R25fc9c820d6548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624ce41fc284a5d" /><Relationship Type="http://schemas.openxmlformats.org/officeDocument/2006/relationships/notesMaster" Target="/ppt/notesMasters/notesMaster1.xml" Id="R83ef3f22743348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10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Introduce the study: reliable business analytics and the value of extra checking.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Tables describe records. Business context explains how those records count toward a business measure.</a:t>
            </a:r>
          </a:p>
          <a:p xmlns:a="http://schemas.openxmlformats.org/drawingml/2006/main">
            <a:r>
              <a:t>Context may be structured or scattered across documents. The study uses public documents, not live corporate integrations.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40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 the rule first. All three orders were placed in May, but one was cancelled and one completed in June.</a:t>
            </a:r>
          </a:p>
          <a:p xmlns:a="http://schemas.openxmlformats.org/drawingml/2006/main">
            <a:r>
              <a:t>The May figure is 100 under this company definition. Status and the meaning of the date column determine the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Failure one is inappropriate experience reuse. Failure two is approval of a wrong business interpretation.</a:t>
            </a:r>
          </a:p>
          <a:p xmlns:a="http://schemas.openxmlformats.org/drawingml/2006/main">
            <a:r>
              <a:t>Name the two mechanisms briefly. Their detailed operations follow after the literature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25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Stress reliability, cost-effectiveness and separate/joint effects.</a:t>
            </a:r>
          </a:p>
          <a:p xmlns:a="http://schemas.openxmlformats.org/drawingml/2006/main">
            <a:r>
              <a:t>The study tests both mechanisms and whether the hierarchy adds value beyond equivalent single-agent procedures.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40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 the benchmark as a common exam for analytical agents, with automatically scored final answers.</a:t>
            </a:r>
          </a:p>
          <a:p xmlns:a="http://schemas.openxmlformats.org/drawingml/2006/main">
            <a:r>
              <a:t>It tests calculations that depend on documentation. Current validation is closed, so scorer access must be confirmed before our campaign.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DABstep paper: https://arxiv.org/abs/2506.23719v1</a:t>
            </a:r>
          </a:p>
          <a:p xmlns:a="http://schemas.openxmlformats.org/drawingml/2006/main">
            <a:r>
              <a:t>Hugging Face dataset: https://huggingface.co/datasets/adyen/DABstep</a:t>
            </a:r>
          </a:p>
          <a:p xmlns:a="http://schemas.openxmlformats.org/drawingml/2006/main">
            <a:r>
              <a:t>DABstep leaderboard: https://huggingface.co/spaces/adyen/DABstep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DataPilot, DS-STAR and NVIDIA motivate the comparison. Published scores differ in preparation and resources.</a:t>
            </a:r>
          </a:p>
          <a:p xmlns:a="http://schemas.openxmlformats.org/drawingml/2006/main">
            <a:r>
              <a:t>FinHelm supplies the public engine to adapt. Its hierarchy and verification still require development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DataPilot: https://en.oceanbase.com/blog/24781555459</a:t>
            </a:r>
          </a:p>
          <a:p xmlns:a="http://schemas.openxmlformats.org/drawingml/2006/main">
            <a:r>
              <a:t>DS-STAR v4: https://arxiv.org/abs/2509.21825v4</a:t>
            </a:r>
          </a:p>
          <a:p xmlns:a="http://schemas.openxmlformats.org/drawingml/2006/main">
            <a:r>
              <a:t>NVIDIA Data Explorer: https://huggingface.co/blog/nvidia/nemo-agent-toolkit-data-explorer-dabstep-1st-place</a:t>
            </a:r>
          </a:p>
          <a:p xmlns:a="http://schemas.openxmlformats.org/drawingml/2006/main">
            <a:r>
              <a:t>FinHelm, pinned revision: https://github.com/ZhouJiaJun2333/FinHelm/tree/89e1546cab8fdfd9e996e8f6a6efeec933bc1be5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40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MAST is a literature-based vocabulary for where workflows fail. Explain missing checks versus wrong review judgements.</a:t>
            </a:r>
          </a:p>
          <a:p xmlns:a="http://schemas.openxmlformats.org/drawingml/2006/main">
            <a:r>
              <a:t>SQLDriller and TS-SQL motivate executable tests. QueryProof already uses business-rule gates. Our contribution is their adaptation and controlled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Cemri et al., MAST v3: https://arxiv.org/abs/2503.13657v3</a:t>
            </a:r>
          </a:p>
          <a:p xmlns:a="http://schemas.openxmlformats.org/drawingml/2006/main">
            <a:r>
              <a:t>ReasoningBank v2: https://arxiv.org/abs/2509.25140v2</a:t>
            </a:r>
          </a:p>
          <a:p xmlns:a="http://schemas.openxmlformats.org/drawingml/2006/main">
            <a:r>
              <a:t>SQLDriller: https://haoran-ding.github.io/assets/pdf/sqldriller.pdf</a:t>
            </a:r>
          </a:p>
          <a:p xmlns:a="http://schemas.openxmlformats.org/drawingml/2006/main">
            <a:r>
              <a:t>TS-SQL: https://aclanthology.org/2025.findings-emnlp.156/</a:t>
            </a:r>
          </a:p>
          <a:p xmlns:a="http://schemas.openxmlformats.org/drawingml/2006/main">
            <a:r>
              <a:t>QueryProof v1: https://arxiv.org/abs/2608.09254v1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30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main agent delegates to child agents with distinct contexts. Tool calls alone do not establish multi-agent interaction.</a:t>
            </a:r>
          </a:p>
          <a:p xmlns:a="http://schemas.openxmlformats.org/drawingml/2006/main">
            <a:r>
              <a:t>We test these context boundaries rather than assume they are better than a single agent.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FinHelm, pinned revision: https://github.com/ZhouJiaJun2333/FinHelm/tree/89e1546cab8fdfd9e996e8f6a6efeec933bc1be5</a:t>
            </a:r>
          </a:p>
          <a:p xmlns:a="http://schemas.openxmlformats.org/drawingml/2006/main">
            <a:r>
              <a:t>Scaling Agent Systems v3: https://arxiv.org/abs/2512.08296v3</a:t>
            </a:r>
          </a:p>
          <a:p xmlns:a="http://schemas.openxmlformats.org/drawingml/2006/main">
            <a:r>
              <a:t>Strong Single Agent Baseline: https://arxiv.org/abs/2601.12307v1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Walk through retrieval, source check and admission. The example procedure conflicts with the current date rule.</a:t>
            </a:r>
          </a:p>
          <a:p xmlns:a="http://schemas.openxmlformats.org/drawingml/2006/main">
            <a:r>
              <a:t>The baseline already has ordinary retrieval and source access. Blocking useful experience is a possible cost.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DataPilot: https://en.oceanbase.com/blog/24781555459</a:t>
            </a:r>
          </a:p>
          <a:p xmlns:a="http://schemas.openxmlformats.org/drawingml/2006/main">
            <a:r>
              <a:t>ReasoningBank v2: https://arxiv.org/abs/2509.25140v2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40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one cross-month order to distinguish the two date interpretations. The documented rule supplies the expectation.</a:t>
            </a:r>
          </a:p>
          <a:p xmlns:a="http://schemas.openxmlformats.org/drawingml/2006/main">
            <a:r>
              <a:t>The reviewer generates tests without evaluator answers. Invalid tests and wrong expectations remain possible.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SQLDriller: https://haoran-ding.github.io/assets/pdf/sqldriller.pdf</a:t>
            </a:r>
          </a:p>
          <a:p xmlns:a="http://schemas.openxmlformats.org/drawingml/2006/main">
            <a:r>
              <a:t>TS-SQL: https://aclanthology.org/2025.findings-emnlp.156/</a:t>
            </a:r>
          </a:p>
          <a:p xmlns:a="http://schemas.openxmlformats.org/drawingml/2006/main">
            <a:r>
              <a:t>QueryProof v1: https://arxiv.org/abs/2608.09254v1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55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Name the methodology: controlled 2 × 2 factorial experiment with trace analysis. The arrow indicates the comparison from baseline through individual conditions to Both.</a:t>
            </a:r>
          </a:p>
          <a:p xmlns:a="http://schemas.openxmlformats.org/drawingml/2006/main">
            <a:r>
              <a:t>These are experimental conditions, not stages that guarantee increasing accuracy. Equalise information and resources and retain strong single-agent controls.</a:t>
            </a:r>
          </a:p>
          <a:p xmlns:a="http://schemas.openxmlformats.org/drawingml/2006/main">
            <a:r>
              <a:t>Reviewers assess identical correct and incorrect candidates. Report correctness with coverage, false acceptance and false rejection. A combined win does not by itself establish interaction.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DABstep paper: https://arxiv.org/abs/2506.23719v1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contribution is a careful adaptation and controlled evidence, not invention of memory or testing.</a:t>
            </a:r>
          </a:p>
          <a:p xmlns:a="http://schemas.openxmlformats.org/drawingml/2006/main">
            <a:r>
              <a:t>The practical purpose is a better system-design decision for an analytical team, including when simpler is sufficient.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50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Separate operating spending from preparation hours. Count failed runs and report cost per correct answer alongside coverage.</a:t>
            </a:r>
          </a:p>
          <a:p xmlns:a="http://schemas.openxmlformats.org/drawingml/2006/main">
            <a:r>
              <a:t>Compare equal-budget quality and comparable-quality cost. Amortisation requires explicit query volume and hourly-rate assumptions. These are evaluation outputs, not demonstrated ROI or productivity savings.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25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 correlated errors, fallible tests and the quality–cost trade-off.</a:t>
            </a:r>
          </a:p>
          <a:p xmlns:a="http://schemas.openxmlformats.org/drawingml/2006/main">
            <a:r>
              <a:t>Use development validation, honest negative findings and bounded conclusions. Public data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Target: 40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Implementation and experimental findings remain future work. The schedule moves from validation to frozen comparisons, analysis and writing.</a:t>
            </a:r>
          </a:p>
          <a:p xmlns:a="http://schemas.openxmlformats.org/drawingml/2006/main">
            <a:r>
              <a:t>Preserve the core comparisons before optional transfer datasets. Close with practical guidance on reliable and affordable analytics.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c94e8e06a94eb2" /><Relationship Type="http://schemas.openxmlformats.org/officeDocument/2006/relationships/image" Target="/ppt/media/image.jpeg" Id="R2776b2f3a20d4405" /><Relationship Type="http://schemas.openxmlformats.org/officeDocument/2006/relationships/image" Target="/ppt/media/image.png" Id="R1ae570af194f4c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5c3558f98454d" /><Relationship Type="http://schemas.openxmlformats.org/officeDocument/2006/relationships/image" Target="/ppt/media/image2.png" Id="R66cb5e4fd1b84a21" /><Relationship Type="http://schemas.openxmlformats.org/officeDocument/2006/relationships/image" Target="/ppt/media/image3.png" Id="R6e8e77cd3f874a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df2eed53b7497c" /><Relationship Type="http://schemas.openxmlformats.org/officeDocument/2006/relationships/image" Target="/ppt/media/image4.png" Id="Ra4dd8c2cefbb483f" /><Relationship Type="http://schemas.openxmlformats.org/officeDocument/2006/relationships/image" Target="/ppt/media/image3.png" Id="Rcf44751b6a0844d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bc7de36a9e4f8f" /><Relationship Type="http://schemas.openxmlformats.org/officeDocument/2006/relationships/image" Target="/ppt/media/image3.png" Id="R46b9e06a089640d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810926a7b74382" /><Relationship Type="http://schemas.openxmlformats.org/officeDocument/2006/relationships/image" Target="/ppt/media/image3.png" Id="R96e3c355ae81456f" /><Relationship Type="http://schemas.openxmlformats.org/officeDocument/2006/relationships/image" Target="/ppt/media/image2.jpeg" Id="R9e51304b7a744280" /><Relationship Type="http://schemas.openxmlformats.org/officeDocument/2006/relationships/image" Target="/ppt/media/image5.png" Id="Rc4f2e3ec21ed48fd" /></Relationships>
</file>

<file path=ppt/slideLayouts/slideLayout1.xml><?xml version="1.0" encoding="utf-8"?>
<p:sldLayout xmlns:p="http://schemas.openxmlformats.org/presentationml/2006/main" preserve="1" userDrawn="1">
  <p:cSld name="1_Cover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BA09E0F5-6427-4FFC-B2FA-916F882EA8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76b2f3a20d4405"/>
          <a:srcRect xmlns:a="http://schemas.openxmlformats.org/drawingml/2006/main" l="18380" t="31059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64406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D1F0B0-A69E-4F70-A689-6AF3A2D9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50030"/>
            <a:ext cx="12192000" cy="30338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>
              <a:alpha val="90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Straight Connector 7">
            <a:extLst xmlns:a="http://schemas.openxmlformats.org/drawingml/2006/main">
              <a:ext uri="{FF2B5EF4-FFF2-40B4-BE49-F238E27FC236}">
                <a16:creationId xmlns:a16="http://schemas.microsoft.com/office/drawing/2014/main" id="{861A8FB2-8EAB-4CDA-96DE-511ED827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38665"/>
            <a:ext cx="12192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DDB88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1427BB15-6434-4015-93DD-9A75ED02FC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e570af194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6960" y="4352838"/>
            <a:ext cx="5930536" cy="1235650"/>
          </a:xfrm>
          <a:prstGeom xmlns:a="http://schemas.openxmlformats.org/drawingml/2006/main" prst="rect">
            <a:avLst/>
          </a:prstGeom>
        </p:spPr>
      </p:pic>
      <p:sp>
        <p:nvSpPr>
          <p:cNvPr id="1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45D3161-4DA5-4E99-AB3F-B47F5DFF61D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22539" y="4554747"/>
            <a:ext cx="5036389" cy="8108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>
            <a:lvl1pPr>
              <a:buNone/>
              <a:defRPr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Title / </a:t>
            </a:r>
            <a:r>
              <a:t>标题</a:t>
            </a:r>
            <a:endParaRPr/>
          </a:p>
        </p:txBody>
      </p:sp>
      <p:sp>
        <p:nvSpPr>
          <p:cNvPr id="12" name="Text Placeholder 5">
            <a:extLst xmlns:a="http://schemas.openxmlformats.org/drawingml/2006/main">
              <a:ext uri="{FF2B5EF4-FFF2-40B4-BE49-F238E27FC236}">
                <a16:creationId xmlns:a16="http://schemas.microsoft.com/office/drawing/2014/main" id="{7C2CD642-8F79-4984-A976-018A09E23BA3}"/>
              </a:ext>
            </a:extLst>
          </p:cNvPr>
          <p:cNvSpPr>
            <a:spLocks xmlns:a="http://schemas.openxmlformats.org/drawingml/2006/main" noGrp="1"/>
          </p:cNvSpPr>
          <p:nvPr>
            <p:ph type="body" idx="10" hasCustomPrompt="1"/>
          </p:nvPr>
        </p:nvSpPr>
        <p:spPr>
          <a:xfrm xmlns:a="http://schemas.openxmlformats.org/drawingml/2006/main">
            <a:off x="629549" y="5425867"/>
            <a:ext cx="2994025" cy="569491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FontTx/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marL="228600" marR="0" lvl="0" indent="-228600" algn="l" defTabSz="91440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</a:pPr>
            <a:r>
              <a:t>Date /</a:t>
            </a:r>
            <a:r>
              <a:t> 日期</a:t>
            </a: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2_Chapter">
    <p:bg>
      <p:bgPr>
        <a:solidFill xmlns:a="http://schemas.openxmlformats.org/drawingml/2006/main">
          <a:schemeClr val="bg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3">
            <a:extLst xmlns:a="http://schemas.openxmlformats.org/drawingml/2006/main">
              <a:ext uri="{FF2B5EF4-FFF2-40B4-BE49-F238E27FC236}">
                <a16:creationId xmlns:a16="http://schemas.microsoft.com/office/drawing/2014/main" id="{ECA25C30-CFC6-49CA-9167-FDC4217CCE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cb5e4fd1b84a21"/>
          <a:srcRect xmlns:a="http://schemas.openxmlformats.org/drawingml/2006/main" l="0" t="0" r="11589" b="35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35033" y="1604905"/>
            <a:ext cx="7556967" cy="5253096"/>
          </a:xfrm>
          <a:prstGeom xmlns:a="http://schemas.openxmlformats.org/drawingml/2006/main" prst="rect">
            <a:avLst/>
          </a:prstGeom>
        </p:spPr>
      </p:pic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B35E6EB-E15E-4445-8006-7CD8DA6523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5F0C85B-CCF8-42EC-934D-A9191EE70C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AF9A99B-F3AC-45FD-95A5-D84219F2F5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A8317319-34F5-40EB-90F2-101EB05C89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8e77cd3f874a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6317" y="152400"/>
            <a:ext cx="2894243" cy="603026"/>
          </a:xfrm>
          <a:prstGeom xmlns:a="http://schemas.openxmlformats.org/drawingml/2006/main" prst="rect">
            <a:avLst/>
          </a:prstGeom>
        </p:spPr>
      </p:pic>
      <p:sp>
        <p:nvSpPr>
          <p:cNvPr id="16" name="Title 1">
            <a:extLst xmlns:a="http://schemas.openxmlformats.org/drawingml/2006/main">
              <a:ext uri="{FF2B5EF4-FFF2-40B4-BE49-F238E27FC236}">
                <a16:creationId xmlns:a16="http://schemas.microsoft.com/office/drawing/2014/main" id="{431A70D1-1838-4023-AE58-4DC1EB5BDDF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74785" y="998171"/>
            <a:ext cx="10515600" cy="701675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Title/</a:t>
            </a:r>
            <a:r>
              <a:t>标题</a:t>
            </a:r>
            <a:endParaRPr/>
          </a:p>
        </p:txBody>
      </p:sp>
      <p:sp>
        <p:nvSpPr>
          <p:cNvPr id="23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627B37-BB9C-4727-9857-81D51E1B6015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476372" y="2235444"/>
            <a:ext cx="5157787" cy="3684588"/>
          </a:xfrm>
        </p:spPr>
        <p:txBody>
          <a:bodyPr xmlns:a="http://schemas.openxmlformats.org/drawingml/2006/main"/>
          <a:lstStyle xmlns:a="http://schemas.openxmlformats.org/drawingml/2006/main">
            <a:lvl1pPr marL="228600" indent="-228600">
              <a:buClr>
                <a:schemeClr val="accent1"/>
              </a:buClr>
              <a:buFont typeface="Wingdings"/>
              <a:buChar char="§"/>
              <a:defRPr sz="2400">
                <a:solidFill>
                  <a:schemeClr val="tx2"/>
                </a:solidFill>
              </a:defRPr>
            </a:lvl1pPr>
            <a:lvl2pPr marL="685800" indent="-228600">
              <a:buClr>
                <a:schemeClr val="accent1"/>
              </a:buClr>
              <a:buFont typeface="Wingdings"/>
              <a:buChar char="§"/>
              <a:defRPr>
                <a:solidFill>
                  <a:schemeClr val="tx2"/>
                </a:solidFill>
              </a:defRPr>
            </a:lvl2pPr>
            <a:lvl3pPr marL="1143000" indent="-228600">
              <a:buClr>
                <a:schemeClr val="accent1"/>
              </a:buClr>
              <a:buFont typeface="Wingdings"/>
              <a:buChar char="§"/>
              <a:defRPr sz="2400">
                <a:solidFill>
                  <a:schemeClr val="tx2"/>
                </a:solidFill>
              </a:defRPr>
            </a:lvl3pPr>
            <a:lvl4pPr marL="1600200" indent="-228600">
              <a:buClr>
                <a:schemeClr val="accent1"/>
              </a:buClr>
              <a:buFont typeface="Wingdings"/>
              <a:buChar char="§"/>
              <a:defRPr sz="2400">
                <a:solidFill>
                  <a:schemeClr val="tx2"/>
                </a:solidFill>
              </a:defRPr>
            </a:lvl4pPr>
            <a:lvl5pPr marL="2057400" indent="-228600">
              <a:buClr>
                <a:schemeClr val="accent1"/>
              </a:buClr>
              <a:buFont typeface="Wingdings"/>
              <a:buChar char="§"/>
              <a:defRPr sz="2400">
                <a:solidFill>
                  <a:schemeClr val="tx2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Text / </a:t>
            </a:r>
            <a:r>
              <a:t>文字内容</a:t>
            </a:r>
            <a:endParaRPr/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98BB548-234D-43A9-9F1E-C48B5488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219" y="6295506"/>
            <a:ext cx="1479667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chemeClr val="accent1"/>
                </a:solidFill>
                <a:latin typeface="+mj-ea"/>
                <a:ea typeface="+mj-ea"/>
                <a:cs typeface="+mj-ea"/>
              </a:rPr>
              <a:t>纵横交错 知行合一</a:t>
            </a:r>
            <a:endParaRPr sz="1050">
              <a:solidFill>
                <a:schemeClr val="accent1"/>
              </a:solidFill>
              <a:latin typeface="+mj-ea"/>
              <a:ea typeface="+mj-ea"/>
              <a:cs typeface="+mj-ea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3_One Column Layou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4">
            <a:extLst xmlns:a="http://schemas.openxmlformats.org/drawingml/2006/main">
              <a:ext uri="{FF2B5EF4-FFF2-40B4-BE49-F238E27FC236}">
                <a16:creationId xmlns:a16="http://schemas.microsoft.com/office/drawing/2014/main" id="{47F7EED4-A858-4418-AAA1-43D37A014B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dd8c2cefbb483f"/>
          <a:srcRect xmlns:a="http://schemas.openxmlformats.org/drawingml/2006/main" l="0" t="0" r="11297" b="33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38675" y="1613055"/>
            <a:ext cx="7553325" cy="524494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169D75-46E2-42CE-B13F-ACF85B19AB6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74785" y="998171"/>
            <a:ext cx="8469923" cy="701675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Title/</a:t>
            </a:r>
            <a:r>
              <a:t>标题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73238C-B00F-4D2F-810A-1ABFB28138E9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486507" y="1825625"/>
            <a:ext cx="8469923" cy="4351338"/>
          </a:xfrm>
        </p:spPr>
        <p:txBody>
          <a:bodyPr xmlns:a="http://schemas.openxmlformats.org/drawingml/2006/main"/>
          <a:lstStyle xmlns:a="http://schemas.openxmlformats.org/drawingml/2006/main">
            <a:lvl1pPr marL="228600" indent="-228600">
              <a:buClr>
                <a:schemeClr val="accent1"/>
              </a:buClr>
              <a:buFont typeface="Wingdings"/>
              <a:buChar char="§"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Text / </a:t>
            </a:r>
            <a:r>
              <a:t>文字内容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7D615C-665D-4C33-8AED-068A2D83D89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10187354" y="6356350"/>
            <a:ext cx="943708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9B2295A-4066-4434-AAED-ADEE7806A5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108830" y="6356350"/>
            <a:ext cx="978877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9AEC537-E373-4D9A-8BDA-6836D2C198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30707" y="6356350"/>
            <a:ext cx="5040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E462E355-E032-437B-AA8A-7CE5CADFD0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4751b6a0844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6317" y="152400"/>
            <a:ext cx="2894243" cy="603026"/>
          </a:xfrm>
          <a:prstGeom xmlns:a="http://schemas.openxmlformats.org/drawingml/2006/main" prst="rect">
            <a:avLst/>
          </a:prstGeom>
        </p:spPr>
      </p:pic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71618D9-808B-4A5F-A5D4-6EAAB651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219" y="6295506"/>
            <a:ext cx="1479667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chemeClr val="accent1"/>
                </a:solidFill>
                <a:latin typeface="+mj-ea"/>
                <a:ea typeface="+mj-ea"/>
                <a:cs typeface="+mj-ea"/>
              </a:rPr>
              <a:t>纵横交错 知行合一</a:t>
            </a:r>
            <a:endParaRPr sz="1050">
              <a:solidFill>
                <a:schemeClr val="accent1"/>
              </a:solidFill>
              <a:latin typeface="+mj-ea"/>
              <a:ea typeface="+mj-ea"/>
              <a:cs typeface="+mj-ea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4_Two Column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0199F6C-D098-4C02-831B-F6A6B32879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62D5598-AAC1-4C9F-800C-0FACEDA944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54689F2-8E23-4552-A68D-E968123689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ACB873C4-19F2-421A-BD79-428AF1FE37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9e06a089640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6317" y="152400"/>
            <a:ext cx="2894243" cy="603026"/>
          </a:xfrm>
          <a:prstGeom xmlns:a="http://schemas.openxmlformats.org/drawingml/2006/main" prst="rect">
            <a:avLst/>
          </a:prstGeom>
        </p:spPr>
      </p:pic>
      <p:sp>
        <p:nvSpPr>
          <p:cNvPr id="13" name="Title 1">
            <a:extLst xmlns:a="http://schemas.openxmlformats.org/drawingml/2006/main">
              <a:ext uri="{FF2B5EF4-FFF2-40B4-BE49-F238E27FC236}">
                <a16:creationId xmlns:a16="http://schemas.microsoft.com/office/drawing/2014/main" id="{209C5985-A3E4-4178-B1CE-D68E7D3D595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74785" y="998171"/>
            <a:ext cx="10515600" cy="701675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Title/</a:t>
            </a:r>
            <a:r>
              <a:t>标题</a:t>
            </a:r>
            <a:endParaRPr/>
          </a:p>
        </p:txBody>
      </p:sp>
      <p:sp>
        <p:nvSpPr>
          <p:cNvPr id="1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64CD0F8-0DDF-46F2-86DF-CCA5C3D5084E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486507" y="1825625"/>
            <a:ext cx="4214447" cy="4351338"/>
          </a:xfrm>
        </p:spPr>
        <p:txBody>
          <a:bodyPr xmlns:a="http://schemas.openxmlformats.org/drawingml/2006/main"/>
          <a:lstStyle xmlns:a="http://schemas.openxmlformats.org/drawingml/2006/main">
            <a:lvl1pPr marL="457200" indent="-457200">
              <a:buClr>
                <a:schemeClr val="accent1"/>
              </a:buClr>
              <a:buFont typeface="Wingdings"/>
              <a:buChar char="§"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Text / </a:t>
            </a:r>
            <a:r>
              <a:t>文字内容</a:t>
            </a:r>
            <a:endParaRPr/>
          </a:p>
        </p:txBody>
      </p:sp>
      <p:sp>
        <p:nvSpPr>
          <p:cNvPr id="15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118915E-9E7B-4450-9A63-5C20D5F31FD0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4911969" y="1817077"/>
            <a:ext cx="7280031" cy="436098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Picture/</a:t>
            </a:r>
            <a:r>
              <a:t>图片</a:t>
            </a: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AFD43D5-84AD-43C4-AB9F-03727F5F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219" y="6295506"/>
            <a:ext cx="1479667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chemeClr val="accent1"/>
                </a:solidFill>
                <a:latin typeface="+mj-ea"/>
                <a:ea typeface="+mj-ea"/>
                <a:cs typeface="+mj-ea"/>
              </a:rPr>
              <a:t>纵横交错 知行合一</a:t>
            </a:r>
            <a:endParaRPr sz="1050">
              <a:solidFill>
                <a:schemeClr val="accent1"/>
              </a:solidFill>
              <a:latin typeface="+mj-ea"/>
              <a:ea typeface="+mj-ea"/>
              <a:cs typeface="+mj-ea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2_Cover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E3CDBF4C-FD60-43FC-B1F7-EA917CC48F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3c355ae81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6317" y="152400"/>
            <a:ext cx="2894243" cy="603026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1D33939-7960-4D95-B5F0-5816C4E5ED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51304b7a744280"/>
          <a:srcRect xmlns:a="http://schemas.openxmlformats.org/drawingml/2006/main" l="1891" t="38137" r="2380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9F66760-CA8D-4A2A-ADF6-B40F7A20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896"/>
            <a:ext cx="12192000" cy="1904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>
              <a:alpha val="90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C4BEED9-3C9D-4C17-A1D0-BAB36CE6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4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>
              <a:alpha val="90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03E5D34E-7A90-4DD1-935F-9CFFE3B0BD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2e3ec21ed48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15774" y="5343477"/>
            <a:ext cx="5350017" cy="1114697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9c1a48b1214b39" /><Relationship Type="http://schemas.openxmlformats.org/officeDocument/2006/relationships/slideLayout" Target="/ppt/slideLayouts/slideLayout1.xml" Id="Rf43b5ced5e2e48c1" /><Relationship Type="http://schemas.openxmlformats.org/officeDocument/2006/relationships/slideLayout" Target="/ppt/slideLayouts/slideLayout2.xml" Id="R682184ecbe744c0e" /><Relationship Type="http://schemas.openxmlformats.org/officeDocument/2006/relationships/slideLayout" Target="/ppt/slideLayouts/slideLayout3.xml" Id="R1da10af37fcc4e8e" /><Relationship Type="http://schemas.openxmlformats.org/officeDocument/2006/relationships/slideLayout" Target="/ppt/slideLayouts/slideLayout4.xml" Id="R0fb8e16d99604fb1" /><Relationship Type="http://schemas.openxmlformats.org/officeDocument/2006/relationships/slideLayout" Target="/ppt/slideLayouts/slideLayout5.xml" Id="R9d3f70eed7494d8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611370E-72F6-4FE0-898C-44ED50D951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390320-C306-4952-BAB1-7AC0B1E6FD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7AAA27-BA54-4CE3-B78E-6A08B572384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9788769" y="6356350"/>
            <a:ext cx="1019908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CCE7E1-9859-4BD6-A8C9-CB3042997F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8710245" y="6356350"/>
            <a:ext cx="978877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C59642-3CD4-42ED-A83C-A13B2F2E081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32122" y="6356350"/>
            <a:ext cx="521677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3b5ced5e2e48c1"/>
    <p:sldLayoutId xmlns:r="http://schemas.openxmlformats.org/officeDocument/2006/relationships" id="2147483650" r:id="R682184ecbe744c0e"/>
    <p:sldLayoutId xmlns:r="http://schemas.openxmlformats.org/officeDocument/2006/relationships" id="2147483651" r:id="R1da10af37fcc4e8e"/>
    <p:sldLayoutId xmlns:r="http://schemas.openxmlformats.org/officeDocument/2006/relationships" id="2147483652" r:id="R0fb8e16d99604fb1"/>
    <p:sldLayoutId xmlns:r="http://schemas.openxmlformats.org/officeDocument/2006/relationships" id="2147483653" r:id="R9d3f70eed7494d8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228600" indent="-228600" algn="l" defTabSz="914400">
        <a:lnSpc>
          <a:spcPct val="120000"/>
        </a:lnSpc>
        <a:spcBef>
          <a:spcPts val="1000"/>
        </a:spcBef>
        <a:buFont typeface="Arial"/>
        <a:buChar char="•"/>
        <a:defRPr sz="2800" kern="1200">
          <a:solidFill>
            <a:schemeClr val="tx2"/>
          </a:solidFill>
          <a:latin typeface="+mj-ea"/>
          <a:ea typeface="+mj-ea"/>
          <a:cs typeface="+mj-ea"/>
        </a:defRPr>
      </a:lvl1pPr>
      <a:lvl2pPr xmlns:a="http://schemas.openxmlformats.org/drawingml/2006/main" marL="6858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2400" kern="1200">
          <a:solidFill>
            <a:schemeClr val="tx2"/>
          </a:solidFill>
          <a:latin typeface="+mj-ea"/>
          <a:ea typeface="+mj-ea"/>
          <a:cs typeface="+mj-ea"/>
        </a:defRPr>
      </a:lvl2pPr>
      <a:lvl3pPr xmlns:a="http://schemas.openxmlformats.org/drawingml/2006/main" marL="11430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2000" kern="1200">
          <a:solidFill>
            <a:schemeClr val="tx2"/>
          </a:solidFill>
          <a:latin typeface="+mj-ea"/>
          <a:ea typeface="+mj-ea"/>
          <a:cs typeface="+mj-ea"/>
        </a:defRPr>
      </a:lvl3pPr>
      <a:lvl4pPr xmlns:a="http://schemas.openxmlformats.org/drawingml/2006/main" marL="16002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1800" kern="1200">
          <a:solidFill>
            <a:schemeClr val="tx2"/>
          </a:solidFill>
          <a:latin typeface="+mj-ea"/>
          <a:ea typeface="+mj-ea"/>
          <a:cs typeface="+mj-ea"/>
        </a:defRPr>
      </a:lvl4pPr>
      <a:lvl5pPr xmlns:a="http://schemas.openxmlformats.org/drawingml/2006/main" marL="20574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1800" kern="1200">
          <a:solidFill>
            <a:schemeClr val="tx2"/>
          </a:solidFill>
          <a:latin typeface="+mj-ea"/>
          <a:ea typeface="+mj-ea"/>
          <a:cs typeface="+mj-ea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ACEM">
      <a:dk1>
        <a:sysClr val="windowText" lastClr="000000"/>
      </a:dk1>
      <a:lt1>
        <a:sysClr val="window" lastClr="FFFFFF"/>
      </a:lt1>
      <a:dk2>
        <a:srgbClr val="575757"/>
      </a:dk2>
      <a:lt2>
        <a:srgbClr val="D6C4A6"/>
      </a:lt2>
      <a:accent1>
        <a:srgbClr val="B81C22"/>
      </a:accent1>
      <a:accent2>
        <a:srgbClr val="D55816"/>
      </a:accent2>
      <a:accent3>
        <a:srgbClr val="B88C50"/>
      </a:accent3>
      <a:accent4>
        <a:srgbClr val="A89A7C"/>
      </a:accent4>
      <a:accent5>
        <a:srgbClr val="7F5F52"/>
      </a:accent5>
      <a:accent6>
        <a:srgbClr val="254865"/>
      </a:accent6>
      <a:hlink>
        <a:srgbClr val="6B9F25"/>
      </a:hlink>
      <a:folHlink>
        <a:srgbClr val="E5C243"/>
      </a:folHlink>
    </a:clrScheme>
    <a:fontScheme name="ACEM office">
      <a:majorFont>
        <a:latin typeface="Arial Black"/>
        <a:ea typeface="Microsoft YaHei"/>
        <a:cs typeface=""/>
      </a:majorFont>
      <a:minorFont>
        <a:latin typeface="Arial"/>
        <a:ea typeface="Microsoft YaHei Light"/>
        <a:cs typeface=""/>
      </a:minorFont>
    </a:fontScheme>
    <a:fmtScheme name="ACEM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63544722b43ca" /><Relationship Type="http://schemas.openxmlformats.org/officeDocument/2006/relationships/notesSlide" Target="/ppt/notesSlides/notesSlide1.xml" Id="R94b9b9f93b6e47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505cc0a7ea4758" /><Relationship Type="http://schemas.openxmlformats.org/officeDocument/2006/relationships/notesSlide" Target="/ppt/notesSlides/notesSlide2.xml" Id="Rfba6cb6a76f548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00ff401628c48db" /><Relationship Type="http://schemas.openxmlformats.org/officeDocument/2006/relationships/notesSlide" Target="/ppt/notesSlides/notesSlide3.xml" Id="R7792aea8777049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1cd11f839774ec2" /><Relationship Type="http://schemas.openxmlformats.org/officeDocument/2006/relationships/notesSlide" Target="/ppt/notesSlides/notesSlide4.xml" Id="Rf506a62f45d64d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ba4c8e1ec74968" /><Relationship Type="http://schemas.openxmlformats.org/officeDocument/2006/relationships/notesSlide" Target="/ppt/notesSlides/notesSlide5.xml" Id="R7ed62127bb444b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c83fae7bf474a0a" /><Relationship Type="http://schemas.openxmlformats.org/officeDocument/2006/relationships/hyperlink" Target="https://arxiv.org/abs/2506.23719v1" TargetMode="External" Id="Rdc1b68910f544b94" /><Relationship Type="http://schemas.openxmlformats.org/officeDocument/2006/relationships/hyperlink" Target="https://huggingface.co/datasets/adyen/DABstep" TargetMode="External" Id="Raf6c7457fa844952" /><Relationship Type="http://schemas.openxmlformats.org/officeDocument/2006/relationships/hyperlink" Target="https://huggingface.co/spaces/adyen/DABstep" TargetMode="External" Id="R5fc4726cba574262" /><Relationship Type="http://schemas.openxmlformats.org/officeDocument/2006/relationships/notesSlide" Target="/ppt/notesSlides/notesSlide6.xml" Id="R38de6d41ca2342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d8e32d8f49f4923" /><Relationship Type="http://schemas.openxmlformats.org/officeDocument/2006/relationships/hyperlink" Target="https://en.oceanbase.com/blog/24781555459" TargetMode="External" Id="R312e9db6e5db4e7d" /><Relationship Type="http://schemas.openxmlformats.org/officeDocument/2006/relationships/hyperlink" Target="https://arxiv.org/abs/2509.21825v4" TargetMode="External" Id="R205c0bb451104b21" /><Relationship Type="http://schemas.openxmlformats.org/officeDocument/2006/relationships/hyperlink" Target="https://huggingface.co/blog/nvidia/nemo-agent-toolkit-data-explorer-dabstep-1st-place" TargetMode="External" Id="Rb4b04b4cb2654780" /><Relationship Type="http://schemas.openxmlformats.org/officeDocument/2006/relationships/hyperlink" Target="https://github.com/ZhouJiaJun2333/FinHelm/tree/89e1546cab8fdfd9e996e8f6a6efeec933bc1be5" TargetMode="External" Id="R52c0b7c0f0464b70" /><Relationship Type="http://schemas.openxmlformats.org/officeDocument/2006/relationships/notesSlide" Target="/ppt/notesSlides/notesSlide7.xml" Id="R94a5413585fc42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4f8d37ffbb435a" /><Relationship Type="http://schemas.openxmlformats.org/officeDocument/2006/relationships/hyperlink" Target="https://arxiv.org/abs/2503.13657v3" TargetMode="External" Id="Rec6b0d3e8bf44121" /><Relationship Type="http://schemas.openxmlformats.org/officeDocument/2006/relationships/hyperlink" Target="https://arxiv.org/abs/2509.25140v2" TargetMode="External" Id="R838a941f71034716" /><Relationship Type="http://schemas.openxmlformats.org/officeDocument/2006/relationships/hyperlink" Target="https://haoran-ding.github.io/assets/pdf/sqldriller.pdf" TargetMode="External" Id="Rf9df346b986a4b6f" /><Relationship Type="http://schemas.openxmlformats.org/officeDocument/2006/relationships/hyperlink" Target="https://aclanthology.org/2025.findings-emnlp.156/" TargetMode="External" Id="R0c766604470e4e34" /><Relationship Type="http://schemas.openxmlformats.org/officeDocument/2006/relationships/hyperlink" Target="https://arxiv.org/abs/2608.09254v1" TargetMode="External" Id="Rc076af5733f4428d" /><Relationship Type="http://schemas.openxmlformats.org/officeDocument/2006/relationships/notesSlide" Target="/ppt/notesSlides/notesSlide8.xml" Id="R97789afcdfea43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ac90273bdc4c5f" /><Relationship Type="http://schemas.openxmlformats.org/officeDocument/2006/relationships/hyperlink" Target="https://github.com/ZhouJiaJun2333/FinHelm/tree/89e1546cab8fdfd9e996e8f6a6efeec933bc1be5" TargetMode="External" Id="R081e3a1896b342f0" /><Relationship Type="http://schemas.openxmlformats.org/officeDocument/2006/relationships/hyperlink" Target="https://arxiv.org/abs/2512.08296v3" TargetMode="External" Id="Rff958037c72c4aa9" /><Relationship Type="http://schemas.openxmlformats.org/officeDocument/2006/relationships/hyperlink" Target="https://arxiv.org/abs/2601.12307v1" TargetMode="External" Id="R1c8c31fdeac6428e" /><Relationship Type="http://schemas.openxmlformats.org/officeDocument/2006/relationships/notesSlide" Target="/ppt/notesSlides/notesSlide9.xml" Id="R0638b36365c64ae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8a5d4aa9ee14373" /><Relationship Type="http://schemas.openxmlformats.org/officeDocument/2006/relationships/hyperlink" Target="https://en.oceanbase.com/blog/24781555459" TargetMode="External" Id="R83b67e18ea814846" /><Relationship Type="http://schemas.openxmlformats.org/officeDocument/2006/relationships/hyperlink" Target="https://arxiv.org/abs/2509.25140v2" TargetMode="External" Id="R67adebb6ed934888" /><Relationship Type="http://schemas.openxmlformats.org/officeDocument/2006/relationships/notesSlide" Target="/ppt/notesSlides/notesSlide10.xml" Id="R795d451b040243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0b373617464a07" /><Relationship Type="http://schemas.openxmlformats.org/officeDocument/2006/relationships/hyperlink" Target="https://haoran-ding.github.io/assets/pdf/sqldriller.pdf" TargetMode="External" Id="R2b95a526f3be467d" /><Relationship Type="http://schemas.openxmlformats.org/officeDocument/2006/relationships/hyperlink" Target="https://aclanthology.org/2025.findings-emnlp.156/" TargetMode="External" Id="R015d3e0d7c7347b6" /><Relationship Type="http://schemas.openxmlformats.org/officeDocument/2006/relationships/hyperlink" Target="https://arxiv.org/abs/2608.09254v1" TargetMode="External" Id="R412e0514ef0349fa" /><Relationship Type="http://schemas.openxmlformats.org/officeDocument/2006/relationships/notesSlide" Target="/ppt/notesSlides/notesSlide11.xml" Id="R093486d1f51a44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7b1c354e78d4a90" /><Relationship Type="http://schemas.openxmlformats.org/officeDocument/2006/relationships/notesSlide" Target="/ppt/notesSlides/notesSlide12.xml" Id="R3bb6cb2b095947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60799ab67749a5" /><Relationship Type="http://schemas.openxmlformats.org/officeDocument/2006/relationships/notesSlide" Target="/ppt/notesSlides/notesSlide13.xml" Id="R326dcaaad54242d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367f835017f4603" /><Relationship Type="http://schemas.openxmlformats.org/officeDocument/2006/relationships/notesSlide" Target="/ppt/notesSlides/notesSlide14.xml" Id="R4c46a4677b23492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d467bb5ddb45d3" /><Relationship Type="http://schemas.openxmlformats.org/officeDocument/2006/relationships/notesSlide" Target="/ppt/notesSlides/notesSlide15.xml" Id="R94891153d5d34a2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f89a16c23fe432c" /><Relationship Type="http://schemas.openxmlformats.org/officeDocument/2006/relationships/notesSlide" Target="/ppt/notesSlides/notesSlide16.xml" Id="R16e3f982ce81420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search-title">
            <a:extLst xmlns:a="http://schemas.openxmlformats.org/drawingml/2006/main">
              <a:ext uri="{FF2B5EF4-FFF2-40B4-BE49-F238E27FC236}">
                <a16:creationId xmlns:a16="http://schemas.microsoft.com/office/drawing/2014/main" id="{FECF22BE-BC8E-4A3A-88D5-B762173A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19550"/>
            <a:ext cx="60007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Improving Evidence Use and</a:t>
            </a:r>
          </a:p>
          <a:p xmlns:a="http://schemas.openxmlformats.org/drawingml/2006/main">
            <a: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Semantic Verification in</a:t>
            </a:r>
          </a:p>
          <a:p xmlns:a="http://schemas.openxmlformats.org/drawingml/2006/main">
            <a:pPr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Multi-Agent Business Analytics</a:t>
            </a:r>
          </a:p>
        </p:txBody>
      </p:sp>
      <p:sp>
        <p:nvSpPr>
          <p:cNvPr id="2" name="research-subtitle">
            <a:extLst xmlns:a="http://schemas.openxmlformats.org/drawingml/2006/main">
              <a:ext uri="{FF2B5EF4-FFF2-40B4-BE49-F238E27FC236}">
                <a16:creationId xmlns:a16="http://schemas.microsoft.com/office/drawing/2014/main" id="{3AE2B4C3-C996-4148-9EC3-2186E254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467350"/>
            <a:ext cx="604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Failure-Guided Controlled Study</a:t>
            </a:r>
          </a:p>
        </p:txBody>
      </p:sp>
      <p:sp>
        <p:nvSpPr>
          <p:cNvPr id="3" name="author">
            <a:extLst xmlns:a="http://schemas.openxmlformats.org/drawingml/2006/main">
              <a:ext uri="{FF2B5EF4-FFF2-40B4-BE49-F238E27FC236}">
                <a16:creationId xmlns:a16="http://schemas.microsoft.com/office/drawing/2014/main" id="{E1A49651-E2FC-46E7-81E3-A3AEE52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88645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Mikhail Dushkin</a:t>
            </a:r>
          </a:p>
        </p:txBody>
      </p:sp>
      <p:sp>
        <p:nvSpPr>
          <p:cNvPr id="4" name="date">
            <a:extLst xmlns:a="http://schemas.openxmlformats.org/drawingml/2006/main">
              <a:ext uri="{FF2B5EF4-FFF2-40B4-BE49-F238E27FC236}">
                <a16:creationId xmlns:a16="http://schemas.microsoft.com/office/drawing/2014/main" id="{F4E5DA44-C630-4B6C-B9C2-248A01FA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3627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23 October 2026</a:t>
            </a:r>
          </a:p>
        </p:txBody>
      </p:sp>
      <p:sp>
        <p:nvSpPr>
          <p:cNvPr id="5" name="programme">
            <a:extLst xmlns:a="http://schemas.openxmlformats.org/drawingml/2006/main">
              <a:ext uri="{FF2B5EF4-FFF2-40B4-BE49-F238E27FC236}">
                <a16:creationId xmlns:a16="http://schemas.microsoft.com/office/drawing/2014/main" id="{8EA23044-E28D-4478-948D-6BF0AA06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5721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Master of International Business</a:t>
            </a: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Supervisor: Prof. Liu Jialu</a:t>
            </a:r>
          </a:p>
        </p:txBody>
      </p:sp>
    </p:spTree>
    <p:extLst>
      <p:ext uri="{BB962C8B-B14F-4D97-AF65-F5344CB8AC3E}">
        <p14:creationId xmlns:p14="http://schemas.microsoft.com/office/powerpoint/2010/main" val="8726841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2784DF-EBDB-45EB-9533-B504DD73AF4C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6096000" y="4457700"/>
            <a:ext cx="3810000" cy="495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1215F3-8149-424C-9512-369002B346F2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6096000" y="4457700"/>
            <a:ext cx="47625" cy="495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85173-B466-4042-B545-C89CD86CB3FD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2309813" y="4457700"/>
            <a:ext cx="3786188" cy="495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ACD76ED0-3121-4EFE-83F2-B5920599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A Company Has Data and Business Context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0D5C96D-4A20-450A-83C0-AEF12038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2 / 16</a:t>
            </a:r>
          </a:p>
        </p:txBody>
      </p:sp>
      <p:sp>
        <p:nvSpPr>
          <p:cNvPr id="5" name="business-question">
            <a:extLst xmlns:a="http://schemas.openxmlformats.org/drawingml/2006/main">
              <a:ext uri="{FF2B5EF4-FFF2-40B4-BE49-F238E27FC236}">
                <a16:creationId xmlns:a16="http://schemas.microsoft.com/office/drawing/2014/main" id="{C930C634-3E9A-4034-BC5D-BC3B35EF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479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A manager asks an analytical agent: “What were our May sales?”</a:t>
            </a:r>
          </a:p>
        </p:txBody>
      </p:sp>
      <p:sp>
        <p:nvSpPr>
          <p:cNvPr id="6" name="tables">
            <a:extLst xmlns:a="http://schemas.openxmlformats.org/drawingml/2006/main">
              <a:ext uri="{FF2B5EF4-FFF2-40B4-BE49-F238E27FC236}">
                <a16:creationId xmlns:a16="http://schemas.microsoft.com/office/drawing/2014/main" id="{0B6727B6-C460-4CBC-BE98-0BDC8E08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3476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TABLES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Orders, customers, payments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Amounts, dates, status</a:t>
            </a:r>
          </a:p>
        </p:txBody>
      </p:sp>
      <p:sp>
        <p:nvSpPr>
          <p:cNvPr id="7" name="structured">
            <a:extLst xmlns:a="http://schemas.openxmlformats.org/drawingml/2006/main">
              <a:ext uri="{FF2B5EF4-FFF2-40B4-BE49-F238E27FC236}">
                <a16:creationId xmlns:a16="http://schemas.microsoft.com/office/drawing/2014/main" id="{57197C2B-45E0-44FC-A327-A446FFEE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05150"/>
            <a:ext cx="3333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STRUCTURED CONTEXT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Metric definitions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Data dictionary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Approved rules</a:t>
            </a:r>
          </a:p>
        </p:txBody>
      </p:sp>
      <p:sp>
        <p:nvSpPr>
          <p:cNvPr id="8" name="unstructured">
            <a:extLst xmlns:a="http://schemas.openxmlformats.org/drawingml/2006/main">
              <a:ext uri="{FF2B5EF4-FFF2-40B4-BE49-F238E27FC236}">
                <a16:creationId xmlns:a16="http://schemas.microsoft.com/office/drawing/2014/main" id="{A5488B2C-0490-4806-8F1A-5FBF86A2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105150"/>
            <a:ext cx="3333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UNSTRUCTURED CONTEXT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Wiki pages and email threads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Exceptions and analyst notes</a:t>
            </a:r>
          </a:p>
        </p:txBody>
      </p:sp>
      <p:sp>
        <p:nvSpPr>
          <p:cNvPr id="9" name="analytics-agent">
            <a:extLst xmlns:a="http://schemas.openxmlformats.org/drawingml/2006/main">
              <a:ext uri="{FF2B5EF4-FFF2-40B4-BE49-F238E27FC236}">
                <a16:creationId xmlns:a16="http://schemas.microsoft.com/office/drawing/2014/main" id="{D79FABFC-24B1-44EE-AB70-A8D71A62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552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Analytical agent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Chooses rules and runs SQL/Python</a:t>
            </a:r>
          </a:p>
        </p:txBody>
      </p:sp>
      <p:sp>
        <p:nvSpPr>
          <p:cNvPr id="13" name="key">
            <a:extLst xmlns:a="http://schemas.openxmlformats.org/drawingml/2006/main">
              <a:ext uri="{FF2B5EF4-FFF2-40B4-BE49-F238E27FC236}">
                <a16:creationId xmlns:a16="http://schemas.microsoft.com/office/drawing/2014/main" id="{825D361B-5CAC-4CF1-B42C-209CC2A5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0858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The agent must connect the numbers to the applicable business meaning.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1EAC3-DAA4-4DA3-8A30-5C9401AA3F65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715250" y="55387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43CB3B-510F-46EF-B143-68D94E9C6867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905250" y="55387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1D10C33A-3464-4CB5-B0C3-A3A8A07E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The Same Tables Can Produce Different Sales Figures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3A6F614-929B-45A0-9F51-6BEDAD44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3 / 16</a:t>
            </a:r>
          </a:p>
        </p:txBody>
      </p:sp>
      <p:sp>
        <p:nvSpPr>
          <p:cNvPr id="5" name="source-rule">
            <a:extLst xmlns:a="http://schemas.openxmlformats.org/drawingml/2006/main">
              <a:ext uri="{FF2B5EF4-FFF2-40B4-BE49-F238E27FC236}">
                <a16:creationId xmlns:a16="http://schemas.microsoft.com/office/drawing/2014/main" id="{1A0210CF-B1D7-48D3-9011-2880404E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Company rule: count completed orders in the month of completion.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6B3DE-5827-4AB6-9A41-B03C8AA917DD}"/>
              </a:ext>
            </a:extLst>
          </p:cNvPr>
          <p:cNvGraphicFramePr/>
          <p:nvPr/>
        </p:nvGraphicFramePr>
        <p:xfrm>
          <a:off xmlns:a="http://schemas.openxmlformats.org/drawingml/2006/main" x="571500" y="2981325"/>
          <a:ext xmlns:a="http://schemas.openxmlformats.org/drawingml/2006/main" cx="10953750" cy="1905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1428750"/>
                <a:gridCol w="2476500"/>
                <a:gridCol w="2857500"/>
                <a:gridCol w="2952750"/>
              </a:tblGrid>
              <a:tr h="4762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Order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Amount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Order date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Completion date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Status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 May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 May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Completed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 May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N/A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Cancelled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 May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June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Completed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ll-may">
            <a:extLst xmlns:a="http://schemas.openxmlformats.org/drawingml/2006/main">
              <a:ext uri="{FF2B5EF4-FFF2-40B4-BE49-F238E27FC236}">
                <a16:creationId xmlns:a16="http://schemas.microsoft.com/office/drawing/2014/main" id="{A8468DF9-8F28-4514-B43E-D06F938D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3333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All orders placed in May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230</a:t>
            </a:r>
          </a:p>
        </p:txBody>
      </p:sp>
      <p:sp>
        <p:nvSpPr>
          <p:cNvPr id="8" name="completed">
            <a:extLst xmlns:a="http://schemas.openxmlformats.org/drawingml/2006/main">
              <a:ext uri="{FF2B5EF4-FFF2-40B4-BE49-F238E27FC236}">
                <a16:creationId xmlns:a16="http://schemas.microsoft.com/office/drawing/2014/main" id="{86DDCB40-178B-4464-AF22-9BEB6917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19700"/>
            <a:ext cx="3333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Completed orders only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150</a:t>
            </a:r>
          </a:p>
        </p:txBody>
      </p:sp>
      <p:sp>
        <p:nvSpPr>
          <p:cNvPr id="9" name="correct-month">
            <a:extLst xmlns:a="http://schemas.openxmlformats.org/drawingml/2006/main">
              <a:ext uri="{FF2B5EF4-FFF2-40B4-BE49-F238E27FC236}">
                <a16:creationId xmlns:a16="http://schemas.microsoft.com/office/drawing/2014/main" id="{92BC015F-35DA-4CF9-83B5-32076416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19700"/>
            <a:ext cx="3333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Completed during May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100</a:t>
            </a:r>
          </a:p>
        </p:txBody>
      </p:sp>
      <p:sp>
        <p:nvSpPr>
          <p:cNvPr id="12" name="illustration">
            <a:extLst xmlns:a="http://schemas.openxmlformats.org/drawingml/2006/main">
              <a:ext uri="{FF2B5EF4-FFF2-40B4-BE49-F238E27FC236}">
                <a16:creationId xmlns:a16="http://schemas.microsoft.com/office/drawing/2014/main" id="{B1B956D8-F0F5-4B4B-81D5-09E953E6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Illustrative company rule and data. Executing the code cannot establish which definition is intended.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CE61B-DE4D-439B-BA9B-D57B96F3E477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715250" y="35623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9948F-531C-4B23-8666-5C9D46D8D5FC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05250" y="35623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69DBB5B5-B295-4FF9-82FF-6AFBB099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How the Wrong Interpretation Reaches the Final Answer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321780B-C0F1-481A-B900-ED52C89B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4 / 16</a:t>
            </a:r>
          </a:p>
        </p:txBody>
      </p:sp>
      <p:sp>
        <p:nvSpPr>
          <p:cNvPr id="5" name="failure-one">
            <a:extLst xmlns:a="http://schemas.openxmlformats.org/drawingml/2006/main">
              <a:ext uri="{FF2B5EF4-FFF2-40B4-BE49-F238E27FC236}">
                <a16:creationId xmlns:a16="http://schemas.microsoft.com/office/drawing/2014/main" id="{2A2DD637-E052-48A2-BC96-D9DDBCE7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479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Problem 1: the analyst repeats a past calculation although today’s rule differs.</a:t>
            </a:r>
          </a:p>
        </p:txBody>
      </p:sp>
      <p:sp>
        <p:nvSpPr>
          <p:cNvPr id="6" name="past-procedure">
            <a:extLst xmlns:a="http://schemas.openxmlformats.org/drawingml/2006/main">
              <a:ext uri="{FF2B5EF4-FFF2-40B4-BE49-F238E27FC236}">
                <a16:creationId xmlns:a16="http://schemas.microsoft.com/office/drawing/2014/main" id="{18CCEBA4-8F84-46D8-8BF1-C1A783F3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3333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Past procedure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“Sum orders by order date”</a:t>
            </a:r>
          </a:p>
        </p:txBody>
      </p:sp>
      <p:sp>
        <p:nvSpPr>
          <p:cNvPr id="7" name="analyst-reuse">
            <a:extLst xmlns:a="http://schemas.openxmlformats.org/drawingml/2006/main">
              <a:ext uri="{FF2B5EF4-FFF2-40B4-BE49-F238E27FC236}">
                <a16:creationId xmlns:a16="http://schemas.microsoft.com/office/drawing/2014/main" id="{01201F4F-AF51-4CB4-AB32-D749ED40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81350"/>
            <a:ext cx="3333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Analyst reuses it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Current rule is not applied</a:t>
            </a:r>
          </a:p>
        </p:txBody>
      </p:sp>
      <p:sp>
        <p:nvSpPr>
          <p:cNvPr id="8" name="wrong-answer">
            <a:extLst xmlns:a="http://schemas.openxmlformats.org/drawingml/2006/main">
              <a:ext uri="{FF2B5EF4-FFF2-40B4-BE49-F238E27FC236}">
                <a16:creationId xmlns:a16="http://schemas.microsoft.com/office/drawing/2014/main" id="{3B8515BC-D459-49A4-A29C-DFFB9BF3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81350"/>
            <a:ext cx="3333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May sales</a:t>
            </a:r>
          </a:p>
          <a:p xmlns:a="http://schemas.openxmlformats.org/drawingml/2006/main">
            <a:pPr algn="ctr">
              <a:def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230 instead of 100</a:t>
            </a:r>
          </a:p>
        </p:txBody>
      </p:sp>
      <p:sp>
        <p:nvSpPr>
          <p:cNvPr id="11" name="first-improvement">
            <a:extLst xmlns:a="http://schemas.openxmlformats.org/drawingml/2006/main">
              <a:ext uri="{FF2B5EF4-FFF2-40B4-BE49-F238E27FC236}">
                <a16:creationId xmlns:a16="http://schemas.microsoft.com/office/drawing/2014/main" id="{5C1A5357-C010-43C0-849C-3A00B066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0527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Evidence-checked experience reuse: check the old procedure against current sources.</a:t>
            </a:r>
          </a:p>
        </p:txBody>
      </p:sp>
      <p:sp>
        <p:nvSpPr>
          <p:cNvPr id="12" name="failure-two">
            <a:extLst xmlns:a="http://schemas.openxmlformats.org/drawingml/2006/main">
              <a:ext uri="{FF2B5EF4-FFF2-40B4-BE49-F238E27FC236}">
                <a16:creationId xmlns:a16="http://schemas.microsoft.com/office/drawing/2014/main" id="{3AFD3529-6FBE-4AA9-9A28-75BE6567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15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Problem 2: the reviewer checks execution and arithmetic, then approves 230.</a:t>
            </a:r>
          </a:p>
        </p:txBody>
      </p:sp>
      <p:sp>
        <p:nvSpPr>
          <p:cNvPr id="13" name="reason">
            <a:extLst xmlns:a="http://schemas.openxmlformats.org/drawingml/2006/main">
              <a:ext uri="{FF2B5EF4-FFF2-40B4-BE49-F238E27FC236}">
                <a16:creationId xmlns:a16="http://schemas.microsoft.com/office/drawing/2014/main" id="{79225E18-D1B7-46A5-80DD-B7934322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1095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The code runs. The sum is correct. The business definition was never adequately checked.</a:t>
            </a:r>
          </a:p>
        </p:txBody>
      </p:sp>
      <p:sp>
        <p:nvSpPr>
          <p:cNvPr id="14" name="second-improvement">
            <a:extLst xmlns:a="http://schemas.openxmlformats.org/drawingml/2006/main">
              <a:ext uri="{FF2B5EF4-FFF2-40B4-BE49-F238E27FC236}">
                <a16:creationId xmlns:a16="http://schemas.microsoft.com/office/drawing/2014/main" id="{A23F973D-996E-4F61-BCA4-CFD42044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Source-grounded counterexample review: test the disputed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Research Question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F33CD22C-227E-460B-A3CC-E520D321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Reliability and Cost-effectiveness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816C482-5DDD-4FA7-809E-48E145FD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5 / 16</a:t>
            </a:r>
          </a:p>
        </p:txBody>
      </p:sp>
      <p:sp>
        <p:nvSpPr>
          <p:cNvPr id="5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6AF99648-65BF-498A-8B2A-604A8E1D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9850"/>
            <a:ext cx="10953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t>How do </a:t>
            </a:r>
            <a:r>
              <a:rPr b="1"/>
              <a:t>evidence-checked experience reuse</a:t>
            </a:r>
            <a:r>
              <a:t> and</a:t>
            </a:r>
            <a:br/>
            <a:r>
              <a:rPr b="1"/>
              <a:t>source-grounded counterexample review</a:t>
            </a:r>
            <a:r>
              <a:t> affect</a:t>
            </a:r>
            <a:br/>
            <a:r>
              <a:rPr b="1">
                <a:solidFill>
                  <a:srgbClr val="B81C22"/>
                </a:solidFill>
              </a:rPr>
              <a:t>reliability and cost-effectiveness</a:t>
            </a:r>
            <a:r>
              <a:t> in a hierarchical</a:t>
            </a:r>
            <a:br/>
            <a:r>
              <a:t>multi-agent system for business analytics, </a:t>
            </a:r>
            <a:r>
              <a:rPr b="1"/>
              <a:t>separately and together</a:t>
            </a:r>
            <a:r>
              <a:t>?</a:t>
            </a:r>
          </a:p>
        </p:txBody>
      </p:sp>
      <p:sp>
        <p:nvSpPr>
          <p:cNvPr id="6" name="controls">
            <a:extLst xmlns:a="http://schemas.openxmlformats.org/drawingml/2006/main">
              <a:ext uri="{FF2B5EF4-FFF2-40B4-BE49-F238E27FC236}">
                <a16:creationId xmlns:a16="http://schemas.microsoft.com/office/drawing/2014/main" id="{46B8588F-78DC-470A-98DE-7DB5F803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7207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Compare targeted failures and final answers.</a:t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Test added value against strong single-agent controls.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45CD6-5BB9-44FA-AB3A-43029CEB8557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715250" y="40481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4FE63-2E84-4A35-B2A4-9A9A20D5D434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05250" y="40481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Literature Review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5864A32C-82F9-4530-8FEA-1C309533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DABstep: A Shared Test for Data-analysis Agents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E22AB31-DFE7-41AC-B7BC-45F6F577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6 / 16</a:t>
            </a:r>
          </a:p>
        </p:txBody>
      </p:sp>
      <p:sp>
        <p:nvSpPr>
          <p:cNvPr id="5" name="full-name">
            <a:extLst xmlns:a="http://schemas.openxmlformats.org/drawingml/2006/main">
              <a:ext uri="{FF2B5EF4-FFF2-40B4-BE49-F238E27FC236}">
                <a16:creationId xmlns:a16="http://schemas.microsoft.com/office/drawing/2014/main" id="{659B128D-6B9F-44F1-A5AF-2D48F7C8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90775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Data Agent Benchmark for Multi-step Reasoning</a:t>
            </a:r>
          </a:p>
          <a:p xmlns:a="http://schemas.openxmlformats.org/drawingml/2006/main">
            <a: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Public dataset and leaderboard by Adyen and Hugging Face</a:t>
            </a:r>
          </a:p>
        </p:txBody>
      </p:sp>
      <p:sp>
        <p:nvSpPr>
          <p:cNvPr id="6" name="benchmark-inputs">
            <a:extLst xmlns:a="http://schemas.openxmlformats.org/drawingml/2006/main">
              <a:ext uri="{FF2B5EF4-FFF2-40B4-BE49-F238E27FC236}">
                <a16:creationId xmlns:a16="http://schemas.microsoft.com/office/drawing/2014/main" id="{D4AF3862-C729-4C82-86DA-DB8D8B94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333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INPUTS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Payment tables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Supporting documents</a:t>
            </a:r>
          </a:p>
        </p:txBody>
      </p:sp>
      <p:sp>
        <p:nvSpPr>
          <p:cNvPr id="7" name="benchmark-task">
            <a:extLst xmlns:a="http://schemas.openxmlformats.org/drawingml/2006/main">
              <a:ext uri="{FF2B5EF4-FFF2-40B4-BE49-F238E27FC236}">
                <a16:creationId xmlns:a16="http://schemas.microsoft.com/office/drawing/2014/main" id="{2B998F3E-7521-472C-BFBE-A37CE48E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76625"/>
            <a:ext cx="333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Apply rules and join sources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Calculate an answer</a:t>
            </a:r>
          </a:p>
        </p:txBody>
      </p:sp>
      <p:sp>
        <p:nvSpPr>
          <p:cNvPr id="8" name="benchmark-score">
            <a:extLst xmlns:a="http://schemas.openxmlformats.org/drawingml/2006/main">
              <a:ext uri="{FF2B5EF4-FFF2-40B4-BE49-F238E27FC236}">
                <a16:creationId xmlns:a16="http://schemas.microsoft.com/office/drawing/2014/main" id="{D88D69A5-3752-4164-820C-FF969CF8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76625"/>
            <a:ext cx="333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Submit answers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Compare leaderboard accuracy</a:t>
            </a:r>
          </a:p>
        </p:txBody>
      </p:sp>
      <p:sp>
        <p:nvSpPr>
          <p:cNvPr id="11" name="benchmark-detail">
            <a:extLst xmlns:a="http://schemas.openxmlformats.org/drawingml/2006/main">
              <a:ext uri="{FF2B5EF4-FFF2-40B4-BE49-F238E27FC236}">
                <a16:creationId xmlns:a16="http://schemas.microsoft.com/office/drawing/2014/main" id="{92A9AF3A-4794-4334-8711-8108F392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9675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450 evaluation questions. Answers include numbers, short text and lists.</a:t>
            </a:r>
          </a:p>
          <a:p xmlns:a="http://schemas.openxmlformats.org/drawingml/2006/main">
            <a:pPr>
              <a:def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Example task type: identify applicable fee rules and calculate a merchant’s fees.</a:t>
            </a:r>
          </a:p>
        </p:txBody>
      </p:sp>
      <p:sp>
        <p:nvSpPr>
          <p:cNvPr id="12" name="sources">
            <a:extLst xmlns:a="http://schemas.openxmlformats.org/drawingml/2006/main">
              <a:ext uri="{FF2B5EF4-FFF2-40B4-BE49-F238E27FC236}">
                <a16:creationId xmlns:a16="http://schemas.microsoft.com/office/drawing/2014/main" id="{0532482D-A2B2-4097-AD0F-29666EA2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c1b68910f544b94"/>
              </a:rPr>
              <a:t>DABstep paper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f6c7457fa844952"/>
              </a:rPr>
              <a:t>Hugging Face dataset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fc4726cba574262"/>
              </a:rPr>
              <a:t>DABstep leaderboard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Literature Review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671696A9-C0DF-4611-AC0D-3CF64C34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Existing Systems and Our Implementation Starting Point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39B0B39-640E-4B0A-9CB9-F3AC4D3F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7 / 16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1302C-6256-4650-B379-DBF18C7DBCCF}"/>
              </a:ext>
            </a:extLst>
          </p:cNvPr>
          <p:cNvGraphicFramePr/>
          <p:nvPr/>
        </p:nvGraphicFramePr>
        <p:xfrm>
          <a:off xmlns:a="http://schemas.openxmlformats.org/drawingml/2006/main" x="571500" y="2543175"/>
          <a:ext xmlns:a="http://schemas.openxmlformats.org/drawingml/2006/main" cx="10953750" cy="2771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048250"/>
                <a:gridCol w="3905250"/>
              </a:tblGrid>
              <a:tr h="55435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System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What it provides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Role in this study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DataPilot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Versioned business assets and procedures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Knowledge reuse reference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DS-STAR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Planning, computation and iterative review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Review workflow reference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NVIDIA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Prepared tools with one agent at inference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Strong single-agent comparison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FinHelm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Memory, delegation and verification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Reproducible adaptation path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</a:tbl>
          </a:graphicData>
        </a:graphic>
      </p:graphicFrame>
      <p:sp>
        <p:nvSpPr>
          <p:cNvPr id="6" name="transition">
            <a:extLst xmlns:a="http://schemas.openxmlformats.org/drawingml/2006/main">
              <a:ext uri="{FF2B5EF4-FFF2-40B4-BE49-F238E27FC236}">
                <a16:creationId xmlns:a16="http://schemas.microsoft.com/office/drawing/2014/main" id="{034F47B6-7CF1-49EF-A24D-E868F0DB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5925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The first three are high-performing DABstep references in our 14 October audit.</a:t>
            </a:r>
          </a:p>
          <a:p xmlns:a="http://schemas.openxmlformats.org/drawingml/2006/main">
            <a: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FinHelm provides accessible infrastructure, not a claim to reproduce their scores.</a:t>
            </a:r>
          </a:p>
        </p:txBody>
      </p:sp>
      <p:sp>
        <p:nvSpPr>
          <p:cNvPr id="7" name="sources">
            <a:extLst xmlns:a="http://schemas.openxmlformats.org/drawingml/2006/main">
              <a:ext uri="{FF2B5EF4-FFF2-40B4-BE49-F238E27FC236}">
                <a16:creationId xmlns:a16="http://schemas.microsoft.com/office/drawing/2014/main" id="{CFD82160-8354-4C9D-B336-CC177FB1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12e9db6e5db4e7d"/>
              </a:rPr>
              <a:t>DataPilot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05c0bb451104b21"/>
              </a:rPr>
              <a:t>DS-STAR v4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4b04b4cb2654780"/>
              </a:rPr>
              <a:t>NVIDIA Data Explorer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2c0b7c0f0464b70"/>
              </a:rPr>
              <a:t>FinHelm, pinned revision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Literature Review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F719F415-934B-487E-B044-050D6421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MAST and Existing Approaches to the Two Problems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4C62A70-5C09-4B01-8A29-6F2B1B77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8 / 16</a:t>
            </a:r>
          </a:p>
        </p:txBody>
      </p:sp>
      <p:sp>
        <p:nvSpPr>
          <p:cNvPr id="5" name="paper">
            <a:extLst xmlns:a="http://schemas.openxmlformats.org/drawingml/2006/main">
              <a:ext uri="{FF2B5EF4-FFF2-40B4-BE49-F238E27FC236}">
                <a16:creationId xmlns:a16="http://schemas.microsoft.com/office/drawing/2014/main" id="{083C3FF5-26EC-44CD-8EC0-932FFBE2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90775"/>
            <a:ext cx="1095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Cemri et al. (2025), “Why Do Multi-Agent LLM Systems Fail?”</a:t>
            </a:r>
          </a:p>
        </p:txBody>
      </p:sp>
      <p:sp>
        <p:nvSpPr>
          <p:cNvPr id="6" name="taxonomy">
            <a:extLst xmlns:a="http://schemas.openxmlformats.org/drawingml/2006/main">
              <a:ext uri="{FF2B5EF4-FFF2-40B4-BE49-F238E27FC236}">
                <a16:creationId xmlns:a16="http://schemas.microsoft.com/office/drawing/2014/main" id="{181674D1-3B01-404B-A25A-7C3050E8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1940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MAST: Multi-Agent System Failure Taxonomy (14 failure modes).</a:t>
            </a:r>
          </a:p>
        </p:txBody>
      </p:sp>
      <p:sp>
        <p:nvSpPr>
          <p:cNvPr id="7" name="system-design">
            <a:extLst xmlns:a="http://schemas.openxmlformats.org/drawingml/2006/main">
              <a:ext uri="{FF2B5EF4-FFF2-40B4-BE49-F238E27FC236}">
                <a16:creationId xmlns:a16="http://schemas.microsoft.com/office/drawing/2014/main" id="{62E75809-EE47-474C-8DC3-91172ADA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3333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System design</a:t>
            </a:r>
          </a:p>
        </p:txBody>
      </p:sp>
      <p:sp>
        <p:nvSpPr>
          <p:cNvPr id="8" name="inter-agent">
            <a:extLst xmlns:a="http://schemas.openxmlformats.org/drawingml/2006/main">
              <a:ext uri="{FF2B5EF4-FFF2-40B4-BE49-F238E27FC236}">
                <a16:creationId xmlns:a16="http://schemas.microsoft.com/office/drawing/2014/main" id="{7909BE20-C6D3-4D7C-B6A6-E639327A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05175"/>
            <a:ext cx="3333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Inter-agent misalignment</a:t>
            </a:r>
          </a:p>
        </p:txBody>
      </p:sp>
      <p:sp>
        <p:nvSpPr>
          <p:cNvPr id="9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700CB8E3-7A10-408C-9DF9-E3B77395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05175"/>
            <a:ext cx="3333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Task verification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A12DA-C879-4343-84D2-DA7BA31C3327}"/>
              </a:ext>
            </a:extLst>
          </p:cNvPr>
          <p:cNvGraphicFramePr/>
          <p:nvPr/>
        </p:nvGraphicFramePr>
        <p:xfrm>
          <a:off xmlns:a="http://schemas.openxmlformats.org/drawingml/2006/main" x="571500" y="4019550"/>
          <a:ext xmlns:a="http://schemas.openxmlformats.org/drawingml/2006/main" cx="10953750" cy="1457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381750"/>
                <a:gridCol w="4572000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Problem and prior work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What our study will test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Experience use: DataPilot and ReasoningBank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Does past experience fit today’s rules?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Review: SQLDriller, TS-SQL, QueryProof; DS-STAR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Does testing improve review decisions?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</a:tbl>
          </a:graphicData>
        </a:graphic>
      </p:graphicFrame>
      <p:sp>
        <p:nvSpPr>
          <p:cNvPr id="11" name="codes">
            <a:extLst xmlns:a="http://schemas.openxmlformats.org/drawingml/2006/main">
              <a:ext uri="{FF2B5EF4-FFF2-40B4-BE49-F238E27FC236}">
                <a16:creationId xmlns:a16="http://schemas.microsoft.com/office/drawing/2014/main" id="{375B6FA2-FA56-475B-9136-FC3AFCEA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SQLDriller / TS-SQL: executable tests. QueryProof: business-rule gates.</a:t>
            </a:r>
          </a:p>
          <a:p xmlns:a="http://schemas.openxmlformats.org/drawingml/2006/main">
            <a:pPr>
              <a:def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MAST review failures: omitted checks (FM-3.2) and wrong judgements (FM-3.3).</a:t>
            </a:r>
          </a:p>
        </p:txBody>
      </p:sp>
      <p:sp>
        <p:nvSpPr>
          <p:cNvPr id="12" name="sources">
            <a:extLst xmlns:a="http://schemas.openxmlformats.org/drawingml/2006/main">
              <a:ext uri="{FF2B5EF4-FFF2-40B4-BE49-F238E27FC236}">
                <a16:creationId xmlns:a16="http://schemas.microsoft.com/office/drawing/2014/main" id="{6FD4932B-5474-4084-BBC1-A2C98D66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c6b0d3e8bf44121"/>
              </a:rPr>
              <a:t>Cemri et al., MAST v3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38a941f71034716"/>
              </a:rPr>
              <a:t>ReasoningBank v2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9df346b986a4b6f"/>
              </a:rPr>
              <a:t>SQLDriller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c766604470e4e34"/>
              </a:rPr>
              <a:t>TS-SQL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076af5733f4428d"/>
              </a:rPr>
              <a:t>QueryProof v1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D223DC-D804-4D21-8D83-AD32E3D38A23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00750" y="3276600"/>
            <a:ext cx="3857625" cy="6381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203EB-737D-4461-8F93-72FCF9687368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00750" y="3276600"/>
            <a:ext cx="47625" cy="6381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B667EC-A683-47DD-83F9-72A61DAAC3B9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238375" y="3276600"/>
            <a:ext cx="3762375" cy="6381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Research Plan &amp; Method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A403D1C8-2B5E-4103-8A2F-94DA9DDF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A Fixed Hierarchy Adapted from FinHelm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B94FF59-F752-485C-B747-0754077E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9 / 16</a:t>
            </a:r>
          </a:p>
        </p:txBody>
      </p:sp>
      <p:sp>
        <p:nvSpPr>
          <p:cNvPr id="5" name="main-agent">
            <a:extLst xmlns:a="http://schemas.openxmlformats.org/drawingml/2006/main">
              <a:ext uri="{FF2B5EF4-FFF2-40B4-BE49-F238E27FC236}">
                <a16:creationId xmlns:a16="http://schemas.microsoft.com/office/drawing/2014/main" id="{F3B395F7-8DD4-40C8-A2AE-27C13E73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76500"/>
            <a:ext cx="3810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Main agent</a:t>
            </a:r>
          </a:p>
          <a:p xmlns:a="http://schemas.openxmlformats.org/drawingml/2006/main">
            <a:pPr algn="ctr">
              <a:def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Coordinates the task</a:t>
            </a:r>
          </a:p>
        </p:txBody>
      </p:sp>
      <p:sp>
        <p:nvSpPr>
          <p:cNvPr id="6" name="evidence-worker">
            <a:extLst xmlns:a="http://schemas.openxmlformats.org/drawingml/2006/main">
              <a:ext uri="{FF2B5EF4-FFF2-40B4-BE49-F238E27FC236}">
                <a16:creationId xmlns:a16="http://schemas.microsoft.com/office/drawing/2014/main" id="{338104FB-83AA-40A1-AC13-B8302ECE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3333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Evidence worker</a:t>
            </a:r>
          </a:p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Checks retrieved experience</a:t>
            </a:r>
          </a:p>
        </p:txBody>
      </p:sp>
      <p:sp>
        <p:nvSpPr>
          <p:cNvPr id="7" name="computation">
            <a:extLst xmlns:a="http://schemas.openxmlformats.org/drawingml/2006/main">
              <a:ext uri="{FF2B5EF4-FFF2-40B4-BE49-F238E27FC236}">
                <a16:creationId xmlns:a16="http://schemas.microsoft.com/office/drawing/2014/main" id="{8D1A29C0-1A6B-4744-A2A3-9426C510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14775"/>
            <a:ext cx="3333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Computational analyst</a:t>
            </a:r>
          </a:p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Runs SQL/Python</a:t>
            </a:r>
          </a:p>
        </p:txBody>
      </p:sp>
      <p:sp>
        <p:nvSpPr>
          <p:cNvPr id="8" name="reviewer">
            <a:extLst xmlns:a="http://schemas.openxmlformats.org/drawingml/2006/main">
              <a:ext uri="{FF2B5EF4-FFF2-40B4-BE49-F238E27FC236}">
                <a16:creationId xmlns:a16="http://schemas.microsoft.com/office/drawing/2014/main" id="{BDA88845-C645-412D-A826-532B0FAD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14775"/>
            <a:ext cx="3333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Challenges the interpretation</a:t>
            </a:r>
          </a:p>
        </p:txBody>
      </p:sp>
      <p:sp>
        <p:nvSpPr>
          <p:cNvPr id="12" name="boundaries">
            <a:extLst xmlns:a="http://schemas.openxmlformats.org/drawingml/2006/main">
              <a:ext uri="{FF2B5EF4-FFF2-40B4-BE49-F238E27FC236}">
                <a16:creationId xmlns:a16="http://schemas.microsoft.com/office/drawing/2014/main" id="{FBFCE1DB-B4CC-466A-99B6-2ED8AD63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Separate working contexts and observable transfers.</a:t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The same roles remain in all four multi-agent conditions.</a:t>
            </a:r>
          </a:p>
        </p:txBody>
      </p:sp>
      <p:sp>
        <p:nvSpPr>
          <p:cNvPr id="13" name="sources">
            <a:extLst xmlns:a="http://schemas.openxmlformats.org/drawingml/2006/main">
              <a:ext uri="{FF2B5EF4-FFF2-40B4-BE49-F238E27FC236}">
                <a16:creationId xmlns:a16="http://schemas.microsoft.com/office/drawing/2014/main" id="{8D4BC3B8-EB5B-4A99-8475-5BB1B39D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81e3a1896b342f0"/>
              </a:rPr>
              <a:t>FinHelm, pinned revision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f958037c72c4aa9"/>
              </a:rPr>
              <a:t>Scaling Agent Systems v3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c8c31fdeac6428e"/>
              </a:rPr>
              <a:t>Strong Single Agent Baseline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D62A8-2B4F-403B-A940-65823940D589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715250" y="32289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1D9F4-810C-45D4-B081-7F0952D1B3CD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905250" y="32289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99999"/>
            </a:solidFill>
            <a:tailEnd type="triangle" w="sm" len="sm"/>
          </a:ln>
        </p:spPr>
      </p:cxn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Research Plan &amp; Method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08636388-5593-48F9-A555-CC958C86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Evidence-checked experience reuse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83978E5-8FAB-4633-8E4F-682A46C1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10 / 16</a:t>
            </a:r>
          </a:p>
        </p:txBody>
      </p:sp>
      <p:sp>
        <p:nvSpPr>
          <p:cNvPr id="5" name="retrieval">
            <a:extLst xmlns:a="http://schemas.openxmlformats.org/drawingml/2006/main">
              <a:ext uri="{FF2B5EF4-FFF2-40B4-BE49-F238E27FC236}">
                <a16:creationId xmlns:a16="http://schemas.microsoft.com/office/drawing/2014/main" id="{CB5159B7-17C2-4A43-A8E1-D111A430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95575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Retrieve a procedure</a:t>
            </a:r>
          </a:p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and its conditions</a:t>
            </a:r>
          </a:p>
        </p:txBody>
      </p:sp>
      <p:sp>
        <p:nvSpPr>
          <p:cNvPr id="6" name="applicability">
            <a:extLst xmlns:a="http://schemas.openxmlformats.org/drawingml/2006/main">
              <a:ext uri="{FF2B5EF4-FFF2-40B4-BE49-F238E27FC236}">
                <a16:creationId xmlns:a16="http://schemas.microsoft.com/office/drawing/2014/main" id="{5976A1C9-006B-4B3F-A746-4B2C4DF6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Compare those conditions</a:t>
            </a:r>
          </a:p>
          <a:p xmlns:a="http://schemas.openxmlformats.org/drawingml/2006/main">
            <a:pPr algn="ctr">
              <a:def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with current documents</a:t>
            </a:r>
          </a:p>
        </p:txBody>
      </p:sp>
      <p:sp>
        <p:nvSpPr>
          <p:cNvPr id="7" name="admission">
            <a:extLst xmlns:a="http://schemas.openxmlformats.org/drawingml/2006/main">
              <a:ext uri="{FF2B5EF4-FFF2-40B4-BE49-F238E27FC236}">
                <a16:creationId xmlns:a16="http://schemas.microsoft.com/office/drawing/2014/main" id="{0AB60163-80EC-46BC-91B8-E505F844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95575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1C22"/>
            </a:solidFill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Supported: admit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Contradicted: withhold</a:t>
            </a:r>
          </a:p>
          <a:p xmlns:a="http://schemas.openxmlformats.org/drawingml/2006/main">
            <a:pPr algn="ctr">
              <a:def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Unresolved: withhold</a:t>
            </a:r>
          </a:p>
        </p:txBody>
      </p:sp>
      <p:sp>
        <p:nvSpPr>
          <p:cNvPr id="10" name="worked-example">
            <a:extLst xmlns:a="http://schemas.openxmlformats.org/drawingml/2006/main">
              <a:ext uri="{FF2B5EF4-FFF2-40B4-BE49-F238E27FC236}">
                <a16:creationId xmlns:a16="http://schemas.microsoft.com/office/drawing/2014/main" id="{1B3A5F7B-0C82-4819-88C9-81A89994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8125"/>
            <a:ext cx="10953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Past procedure: sum orders using order date.</a:t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Current rule: completed orders, using completion date.</a:t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Decision: withhold the incompatible procedure and analyse current sources.</a:t>
            </a:r>
          </a:p>
        </p:txBody>
      </p:sp>
      <p:sp>
        <p:nvSpPr>
          <p:cNvPr id="11" name="measure">
            <a:extLst xmlns:a="http://schemas.openxmlformats.org/drawingml/2006/main">
              <a:ext uri="{FF2B5EF4-FFF2-40B4-BE49-F238E27FC236}">
                <a16:creationId xmlns:a16="http://schemas.microsoft.com/office/drawing/2014/main" id="{B2E66ADC-7F17-4B74-987E-F4690048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34025"/>
            <a:ext cx="1095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Measure fewer inappropriate reuses without discarding useful experience.</a:t>
            </a:r>
          </a:p>
        </p:txBody>
      </p:sp>
      <p:sp>
        <p:nvSpPr>
          <p:cNvPr id="12" name="sources">
            <a:extLst xmlns:a="http://schemas.openxmlformats.org/drawingml/2006/main">
              <a:ext uri="{FF2B5EF4-FFF2-40B4-BE49-F238E27FC236}">
                <a16:creationId xmlns:a16="http://schemas.microsoft.com/office/drawing/2014/main" id="{E9ABA0F8-8790-4B9F-AE58-0A2043CE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3b67e18ea814846"/>
              </a:rPr>
              <a:t>DataPilot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7adebb6ed934888"/>
              </a:rPr>
              <a:t>ReasoningBank v2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Research Plan &amp; Method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3E584E18-6C64-4D20-AA08-A1BB7B2A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Source-grounded counterexample review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7BFC4C1-B94B-42BE-9A07-4779175F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11 / 16</a:t>
            </a:r>
          </a:p>
        </p:txBody>
      </p:sp>
      <p:sp>
        <p:nvSpPr>
          <p:cNvPr id="5" name="source-first">
            <a:extLst xmlns:a="http://schemas.openxmlformats.org/drawingml/2006/main">
              <a:ext uri="{FF2B5EF4-FFF2-40B4-BE49-F238E27FC236}">
                <a16:creationId xmlns:a16="http://schemas.microsoft.com/office/drawing/2014/main" id="{A316F093-9EF8-4065-9EC1-BB079AFE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10953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The reviewer reads the question and sources before seeing the candidate.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215A1-2588-4374-AE2D-F383A8E9B748}"/>
              </a:ext>
            </a:extLst>
          </p:cNvPr>
          <p:cNvGraphicFramePr/>
          <p:nvPr/>
        </p:nvGraphicFramePr>
        <p:xfrm>
          <a:off xmlns:a="http://schemas.openxmlformats.org/drawingml/2006/main" x="571500" y="3209925"/>
          <a:ext xmlns:a="http://schemas.openxmlformats.org/drawingml/2006/main" cx="10953750" cy="1362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191250"/>
                <a:gridCol w="2381250"/>
                <a:gridCol w="2381250"/>
              </a:tblGrid>
              <a:tr h="6810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Small test case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By order date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By completion date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One order worth 50:</a:t>
                      </a:r>
                    </a:p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placed 29 May, completed 2 June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May includes 50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May includes 0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xpected">
            <a:extLst xmlns:a="http://schemas.openxmlformats.org/drawingml/2006/main">
              <a:ext uri="{FF2B5EF4-FFF2-40B4-BE49-F238E27FC236}">
                <a16:creationId xmlns:a16="http://schemas.microsoft.com/office/drawing/2014/main" id="{FA129334-9278-4525-9DB0-C0649E35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672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The company rule requires completion date: this order contributes 0 to May.</a:t>
            </a:r>
          </a:p>
        </p:txBody>
      </p:sp>
      <p:sp>
        <p:nvSpPr>
          <p:cNvPr id="8" name="test-limits">
            <a:extLst xmlns:a="http://schemas.openxmlformats.org/drawingml/2006/main">
              <a:ext uri="{FF2B5EF4-FFF2-40B4-BE49-F238E27FC236}">
                <a16:creationId xmlns:a16="http://schemas.microsoft.com/office/drawing/2014/main" id="{DF0C3B98-0932-47B0-9B9F-5AD2C1A0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Generate a valid distinguishing case, execute the candidate, then judge the result.</a:t>
            </a:r>
          </a:p>
          <a:p xmlns:a="http://schemas.openxmlformats.org/drawingml/2006/main">
            <a: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 wrong expected answer can still make the review fail.</a:t>
            </a:r>
          </a:p>
        </p:txBody>
      </p:sp>
      <p:sp>
        <p:nvSpPr>
          <p:cNvPr id="9" name="sources">
            <a:extLst xmlns:a="http://schemas.openxmlformats.org/drawingml/2006/main">
              <a:ext uri="{FF2B5EF4-FFF2-40B4-BE49-F238E27FC236}">
                <a16:creationId xmlns:a16="http://schemas.microsoft.com/office/drawing/2014/main" id="{2BAA610E-1714-4EB1-BF4D-C279D2E0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b95a526f3be467d"/>
              </a:rPr>
              <a:t>SQLDriller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15d3e0d7c7347b6"/>
              </a:rPr>
              <a:t>TS-SQL</a:t>
            </a:r>
            <a:r>
              <a:t>; </a:t>
            </a:r>
            <a:r>
              <a:rPr sz="1050">
                <a:solidFill>
                  <a:srgbClr val="575757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12e0514ef0349fa"/>
              </a:rPr>
              <a:t>QueryProof v1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Research Plan &amp; Method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645E41ED-E628-4FDB-88EB-4513A44C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Controlled Experiment and Evaluation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BC6B5E0-7B95-46AB-94E8-7A2F7B7B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12 / 16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916046-60B3-4F2D-8568-7ED45FEB8002}"/>
              </a:ext>
            </a:extLst>
          </p:cNvPr>
          <p:cNvGraphicFramePr/>
          <p:nvPr/>
        </p:nvGraphicFramePr>
        <p:xfrm>
          <a:off xmlns:a="http://schemas.openxmlformats.org/drawingml/2006/main" x="571500" y="2524125"/>
          <a:ext xmlns:a="http://schemas.openxmlformats.org/drawingml/2006/main" cx="1000125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2095500"/>
                <a:gridCol w="2286000"/>
              </a:tblGrid>
              <a:tr h="4476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Condition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Experience check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Counterexample review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Baseline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Evidence-checked experience reuse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On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Source-grounded counterexample review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On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Both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On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On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</a:tbl>
          </a:graphicData>
        </a:graphic>
      </p:graphicFrame>
      <p:sp>
        <p:nvSpPr>
          <p:cNvPr id="6" name="comparison-direction">
            <a:extLst xmlns:a="http://schemas.openxmlformats.org/drawingml/2006/main">
              <a:ext uri="{FF2B5EF4-FFF2-40B4-BE49-F238E27FC236}">
                <a16:creationId xmlns:a16="http://schemas.microsoft.com/office/drawing/2014/main" id="{9FA74EDB-D829-436F-BDB3-C24EFF3C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105150"/>
            <a:ext cx="285750" cy="16002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1C22"/>
          </a:solidFill>
          <a:ln xmlns:a="http://schemas.openxmlformats.org/drawingml/2006/main" w="0">
            <a:solidFill>
              <a:srgbClr val="B81C22"/>
            </a:solidFill>
          </a:ln>
        </p:spPr>
      </p:sp>
      <p:sp>
        <p:nvSpPr>
          <p:cNvPr id="7" name="matched">
            <a:extLst xmlns:a="http://schemas.openxmlformats.org/drawingml/2006/main">
              <a:ext uri="{FF2B5EF4-FFF2-40B4-BE49-F238E27FC236}">
                <a16:creationId xmlns:a16="http://schemas.microsoft.com/office/drawing/2014/main" id="{465DFBFC-7EB3-44D3-8BEB-F0D79290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967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Strong single-agent controls. Same model, sources, assets and aggregate caps.</a:t>
            </a:r>
          </a:p>
        </p:txBody>
      </p:sp>
      <p:sp>
        <p:nvSpPr>
          <p:cNvPr id="8" name="evaluation">
            <a:extLst xmlns:a="http://schemas.openxmlformats.org/drawingml/2006/main">
              <a:ext uri="{FF2B5EF4-FFF2-40B4-BE49-F238E27FC236}">
                <a16:creationId xmlns:a16="http://schemas.microsoft.com/office/drawing/2014/main" id="{CE647818-6CB0-4E79-9FAC-0BC18953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435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DABstep measures final answers. A common candidate pool measures reviewers.</a:t>
            </a:r>
          </a:p>
          <a:p xmlns:a="http://schemas.openxmlformats.org/drawingml/2006/main">
            <a:pPr>
              <a:def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Analyse each mechanism separately and both together, with trace-based diagnosis.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Expected Results &amp; Innovation Points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70254A80-3C12-42A1-908E-932A9C85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Research Contribution and Practical Use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CCD5D29-706A-43CE-B939-7BE6C2F3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13 / 16</a:t>
            </a:r>
          </a:p>
        </p:txBody>
      </p:sp>
      <p:sp>
        <p:nvSpPr>
          <p:cNvPr id="5" name="research-title">
            <a:extLst xmlns:a="http://schemas.openxmlformats.org/drawingml/2006/main">
              <a:ext uri="{FF2B5EF4-FFF2-40B4-BE49-F238E27FC236}">
                <a16:creationId xmlns:a16="http://schemas.microsoft.com/office/drawing/2014/main" id="{67BECB4A-B022-495C-B3EC-4CB6E9AE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0325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Research contribution</a:t>
            </a:r>
          </a:p>
        </p:txBody>
      </p:sp>
      <p:sp>
        <p:nvSpPr>
          <p:cNvPr id="6" name="research">
            <a:extLst xmlns:a="http://schemas.openxmlformats.org/drawingml/2006/main">
              <a:ext uri="{FF2B5EF4-FFF2-40B4-BE49-F238E27FC236}">
                <a16:creationId xmlns:a16="http://schemas.microsoft.com/office/drawing/2014/main" id="{652225C2-44B6-4166-A349-1AFB17DB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0958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Explain where business knowledge is lost or misapplied.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Test which mechanism changes the errors and final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Provide a reproducible comparison and possible MAST refinements.</a:t>
            </a:r>
          </a:p>
        </p:txBody>
      </p:sp>
      <p:sp>
        <p:nvSpPr>
          <p:cNvPr id="7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FEC98C70-15A1-43AD-BED2-0616F074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03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Practical use</a:t>
            </a:r>
          </a:p>
        </p:txBody>
      </p:sp>
      <p:sp>
        <p:nvSpPr>
          <p:cNvPr id="8" name="practice">
            <a:extLst xmlns:a="http://schemas.openxmlformats.org/drawingml/2006/main">
              <a:ext uri="{FF2B5EF4-FFF2-40B4-BE49-F238E27FC236}">
                <a16:creationId xmlns:a16="http://schemas.microsoft.com/office/drawing/2014/main" id="{222C002A-AFD6-4196-9234-919B1322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9925"/>
            <a:ext cx="5048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Help analytics teams choose which checks to enable.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Show when preparing and reusing knowledge is worthwhile.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Clarify when a simpler single agent is sufficient.</a:t>
            </a:r>
          </a:p>
        </p:txBody>
      </p:sp>
      <p:sp>
        <p:nvSpPr>
          <p:cNvPr id="9" name="outputs">
            <a:extLst xmlns:a="http://schemas.openxmlformats.org/drawingml/2006/main">
              <a:ext uri="{FF2B5EF4-FFF2-40B4-BE49-F238E27FC236}">
                <a16:creationId xmlns:a16="http://schemas.microsoft.com/office/drawing/2014/main" id="{97C3EF48-B10E-4E59-852D-A8D92C7A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0953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Expected outputs: failure evidence, an implementation and quality–cost comparisons.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Expected Results &amp; Innovation Points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588A6B24-FCB7-40FD-A412-B9B2D4EA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When Is Additional Checking Worth Its Cost?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CBEE690-C441-4770-B5BA-C76D2EE1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14 / 16</a:t>
            </a:r>
          </a:p>
        </p:txBody>
      </p:sp>
      <p:sp>
        <p:nvSpPr>
          <p:cNvPr id="5" name="operating-title">
            <a:extLst xmlns:a="http://schemas.openxmlformats.org/drawingml/2006/main">
              <a:ext uri="{FF2B5EF4-FFF2-40B4-BE49-F238E27FC236}">
                <a16:creationId xmlns:a16="http://schemas.microsoft.com/office/drawing/2014/main" id="{038DD499-C096-42CE-8CDB-71CBAC19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Operating cost</a:t>
            </a:r>
          </a:p>
        </p:txBody>
      </p:sp>
      <p:sp>
        <p:nvSpPr>
          <p:cNvPr id="6" name="operating">
            <a:extLst xmlns:a="http://schemas.openxmlformats.org/drawingml/2006/main">
              <a:ext uri="{FF2B5EF4-FFF2-40B4-BE49-F238E27FC236}">
                <a16:creationId xmlns:a16="http://schemas.microsoft.com/office/drawing/2014/main" id="{5547DE88-8132-488D-9941-A58E6837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Model and tool spending per task</a:t>
            </a:r>
          </a:p>
          <a:p xmlns:a="http://schemas.openxmlformats.org/drawingml/2006/main">
            <a: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Latency, failed runs and retries</a:t>
            </a:r>
          </a:p>
          <a:p xmlns:a="http://schemas.openxmlformats.org/drawingml/2006/main">
            <a: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Cost per correct answer and coverage</a:t>
            </a:r>
          </a:p>
        </p:txBody>
      </p:sp>
      <p:sp>
        <p:nvSpPr>
          <p:cNvPr id="7" name="preparation-title">
            <a:extLst xmlns:a="http://schemas.openxmlformats.org/drawingml/2006/main">
              <a:ext uri="{FF2B5EF4-FFF2-40B4-BE49-F238E27FC236}">
                <a16:creationId xmlns:a16="http://schemas.microsoft.com/office/drawing/2014/main" id="{E36E5074-3E9C-4004-B638-418BBB85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43175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Preparation and adaptation</a:t>
            </a:r>
          </a:p>
        </p:txBody>
      </p:sp>
      <p:sp>
        <p:nvSpPr>
          <p:cNvPr id="8" name="preparation">
            <a:extLst xmlns:a="http://schemas.openxmlformats.org/drawingml/2006/main">
              <a:ext uri="{FF2B5EF4-FFF2-40B4-BE49-F238E27FC236}">
                <a16:creationId xmlns:a16="http://schemas.microsoft.com/office/drawing/2014/main" id="{495350EF-2911-4B4A-8C2A-78C2AF70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33725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Hours to prepare knowledge and memory</a:t>
            </a:r>
          </a:p>
          <a:p xmlns:a="http://schemas.openxmlformats.org/drawingml/2006/main">
            <a: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Effort to adapt to new tasks</a:t>
            </a:r>
          </a:p>
          <a:p xmlns:a="http://schemas.openxmlformats.org/drawingml/2006/main">
            <a: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Amortisation over future query volume</a:t>
            </a:r>
          </a:p>
          <a:p xmlns:a="http://schemas.openxmlformats.org/drawingml/2006/main">
            <a:pPr>
              <a:def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With explicit assumptions</a:t>
            </a:r>
          </a:p>
        </p:txBody>
      </p:sp>
      <p:sp>
        <p:nvSpPr>
          <p:cNvPr id="9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896084BC-F4DE-42B6-BB76-6FFF5415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Business decision</a:t>
            </a:r>
          </a:p>
        </p:txBody>
      </p:sp>
      <p:sp>
        <p:nvSpPr>
          <p:cNvPr id="10" name="decision">
            <a:extLst xmlns:a="http://schemas.openxmlformats.org/drawingml/2006/main">
              <a:ext uri="{FF2B5EF4-FFF2-40B4-BE49-F238E27FC236}">
                <a16:creationId xmlns:a16="http://schemas.microsoft.com/office/drawing/2014/main" id="{3954D706-BE30-4005-B66B-80125873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67350"/>
            <a:ext cx="1095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Compare quality at the same budget and cost at comparable quality.</a:t>
            </a:r>
          </a:p>
          <a:p xmlns:a="http://schemas.openxmlformats.org/drawingml/2006/main">
            <a:pPr>
              <a:def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Report when the added reliability justifies the extra work.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Challenges &amp; Limitations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A5362AD9-E77A-4059-9160-76FB8870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What May Limit the Benefits?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6059F2D-416C-4159-8B52-ED4B1F93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15 / 16</a:t>
            </a:r>
          </a:p>
        </p:txBody>
      </p:sp>
      <p:sp>
        <p:nvSpPr>
          <p:cNvPr id="5" name="number-0">
            <a:extLst xmlns:a="http://schemas.openxmlformats.org/drawingml/2006/main">
              <a:ext uri="{FF2B5EF4-FFF2-40B4-BE49-F238E27FC236}">
                <a16:creationId xmlns:a16="http://schemas.microsoft.com/office/drawing/2014/main" id="{74174A34-76C2-449C-9E26-B2A85C7C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03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1.</a:t>
            </a:r>
          </a:p>
        </p:txBody>
      </p:sp>
      <p:sp>
        <p:nvSpPr>
          <p:cNvPr id="6" name="challenge-0">
            <a:extLst xmlns:a="http://schemas.openxmlformats.org/drawingml/2006/main">
              <a:ext uri="{FF2B5EF4-FFF2-40B4-BE49-F238E27FC236}">
                <a16:creationId xmlns:a16="http://schemas.microsoft.com/office/drawing/2014/main" id="{4F16965A-5644-4E16-8B9A-5BC7CB95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03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Analyst and reviewer may share the same wrong interpretation.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A43500CD-E334-45A5-B436-44063B54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2.</a:t>
            </a:r>
          </a:p>
        </p:txBody>
      </p:sp>
      <p:sp>
        <p:nvSpPr>
          <p:cNvPr id="8" name="challenge-1">
            <a:extLst xmlns:a="http://schemas.openxmlformats.org/drawingml/2006/main">
              <a:ext uri="{FF2B5EF4-FFF2-40B4-BE49-F238E27FC236}">
                <a16:creationId xmlns:a16="http://schemas.microsoft.com/office/drawing/2014/main" id="{4CF612F9-3CB2-4718-A6B1-1C9CA979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Generated tests can be invalid or have incorrect expected answers.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936D11FA-BD5B-4098-B5D6-5646AB84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766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3.</a:t>
            </a:r>
          </a:p>
        </p:txBody>
      </p:sp>
      <p:sp>
        <p:nvSpPr>
          <p:cNvPr id="10" name="challenge-2">
            <a:extLst xmlns:a="http://schemas.openxmlformats.org/drawingml/2006/main">
              <a:ext uri="{FF2B5EF4-FFF2-40B4-BE49-F238E27FC236}">
                <a16:creationId xmlns:a16="http://schemas.microsoft.com/office/drawing/2014/main" id="{D532D038-1D1C-4F7A-AE2C-DAE39688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7667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Useful experience may be rejected, or extra checks may cost too much.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BE0B2DC7-6629-4995-AFD3-796272D5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4.</a:t>
            </a:r>
          </a:p>
        </p:txBody>
      </p:sp>
      <p:sp>
        <p:nvSpPr>
          <p:cNvPr id="12" name="challenge-3">
            <a:extLst xmlns:a="http://schemas.openxmlformats.org/drawingml/2006/main">
              <a:ext uri="{FF2B5EF4-FFF2-40B4-BE49-F238E27FC236}">
                <a16:creationId xmlns:a16="http://schemas.microsoft.com/office/drawing/2014/main" id="{D9D5A441-FA57-46FD-838C-4CBDC0DF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148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Too few target failures can limit what the experiment can establish.</a:t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79D29DE5-C5F7-414D-B0D8-9455131C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5.</a:t>
            </a:r>
          </a:p>
        </p:txBody>
      </p:sp>
      <p:sp>
        <p:nvSpPr>
          <p:cNvPr id="14" name="challenge-4">
            <a:extLst xmlns:a="http://schemas.openxmlformats.org/drawingml/2006/main">
              <a:ext uri="{FF2B5EF4-FFF2-40B4-BE49-F238E27FC236}">
                <a16:creationId xmlns:a16="http://schemas.microsoft.com/office/drawing/2014/main" id="{FCD091F4-B18C-4D2F-B0B6-C84721D5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One hierarchy and benchmark do not represent every business setting.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47F508-C267-4F51-81A9-677A24AAAA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74821" y="998125"/>
            <a:ext cx="11239500" cy="704850"/>
          </a:xfr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>
            <a:defPPr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buNone/>
              <a:def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60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Expected Research Progress</a:t>
            </a:r>
            <a:endParaRPr/>
          </a:p>
        </p:txBody>
      </p:sp>
      <p:sp>
        <p:nvSpPr>
          <p:cNvPr id="3" name="subject">
            <a:extLst xmlns:a="http://schemas.openxmlformats.org/drawingml/2006/main">
              <a:ext uri="{FF2B5EF4-FFF2-40B4-BE49-F238E27FC236}">
                <a16:creationId xmlns:a16="http://schemas.microsoft.com/office/drawing/2014/main" id="{DFDB8088-BE91-4CBD-8B99-FB41FCE5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Prepared Work and Next Steps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179B491-F68D-41C8-B696-4D60ECBC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43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75757"/>
                </a:solidFill>
                <a:latin typeface="Microsoft YaHei"/>
                <a:ea typeface="Microsoft YaHei"/>
                <a:cs typeface="Microsoft YaHei"/>
              </a:rPr>
              <a:t>16 / 16</a:t>
            </a:r>
          </a:p>
        </p:txBody>
      </p:sp>
      <p:sp>
        <p:nvSpPr>
          <p:cNvPr id="5" name="prepared">
            <a:extLst xmlns:a="http://schemas.openxmlformats.org/drawingml/2006/main">
              <a:ext uri="{FF2B5EF4-FFF2-40B4-BE49-F238E27FC236}">
                <a16:creationId xmlns:a16="http://schemas.microsoft.com/office/drawing/2014/main" id="{2133C316-04A3-40E0-9654-5D4D758A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90775"/>
            <a:ext cx="10953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03030"/>
                </a:solidFill>
                <a:latin typeface="Microsoft YaHei"/>
                <a:ea typeface="Microsoft YaHei"/>
                <a:cs typeface="Microsoft YaHei"/>
              </a:rPr>
              <a:t>Prepared: literature synthesis, problem map, research design and proposal.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97121-EE54-400F-9C14-AA4F9F287804}"/>
              </a:ext>
            </a:extLst>
          </p:cNvPr>
          <p:cNvGraphicFramePr/>
          <p:nvPr/>
        </p:nvGraphicFramePr>
        <p:xfrm>
          <a:off xmlns:a="http://schemas.openxmlformats.org/drawingml/2006/main" x="571500" y="3105150"/>
          <a:ext xmlns:a="http://schemas.openxmlformats.org/drawingml/2006/main" cx="10953750" cy="2600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8572500"/>
              </a:tblGrid>
              <a:tr h="37147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Period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Planned work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T w="6668">
                      <a:solidFill>
                        <a:srgbClr val="D8D1C9"/>
                      </a:solidFill>
                      <a:prstDash val="solid"/>
                    </a:lnT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B81C22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Late October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harness and agreed model/budget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November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Implement, validate, pilot and freeze protocol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December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Main comparisons and midterm report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January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Failure, uncertainty and cost analysis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February–April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Thesis writing, revision and submission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May</a:t>
                      </a:r>
                    </a:p>
                  </a:txBody>
                  <a:tcPr marL="95250" marR="95250" marT="66675" marB="66675" anchor="ctr">
                    <a:lnL w="6668">
                      <a:solidFill>
                        <a:srgbClr val="D8D1C9"/>
                      </a:solidFill>
                      <a:prstDash val="solid"/>
                    </a:lnL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57575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Final defense</a:t>
                      </a:r>
                    </a:p>
                  </a:txBody>
                  <a:tcPr marL="95250" marR="95250" marT="66675" marB="66675" anchor="ctr">
                    <a:lnR w="6668">
                      <a:solidFill>
                        <a:srgbClr val="D8D1C9"/>
                      </a:solidFill>
                      <a:prstDash val="solid"/>
                    </a:lnR>
                    <a:lnB w="6668">
                      <a:solidFill>
                        <a:srgbClr val="D8D1C9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</a:tbl>
          </a:graphicData>
        </a:graphic>
      </p:graphicFrame>
      <p:sp>
        <p:nvSpPr>
          <p:cNvPr id="7" name="close">
            <a:extLst xmlns:a="http://schemas.openxmlformats.org/drawingml/2006/main">
              <a:ext uri="{FF2B5EF4-FFF2-40B4-BE49-F238E27FC236}">
                <a16:creationId xmlns:a16="http://schemas.microsoft.com/office/drawing/2014/main" id="{800939BE-BF13-4975-BF6A-81902753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721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81C22"/>
                </a:solidFill>
                <a:latin typeface="Microsoft YaHei"/>
                <a:ea typeface="Microsoft YaHei"/>
                <a:cs typeface="Microsoft YaHei"/>
              </a:rPr>
              <a:t>The outcome is evidence about which checks are worth using in business analytics.</a:t>
            </a:r>
          </a:p>
        </p:txBody>
      </p:sp>
    </p:spTree>
    <p:extLst>
      <p:ext uri="{BB962C8B-B14F-4D97-AF65-F5344CB8AC3E}">
        <p14:creationId xmlns:p14="http://schemas.microsoft.com/office/powerpoint/2010/main" val="910577282"/>
      </p:ext>
    </p:extLst>
  </p:cSld>
</p:sld>
</file>

<file path=ppt/theme/theme1.xml><?xml version="1.0" encoding="utf-8"?>
<a:theme xmlns:a="http://schemas.openxmlformats.org/drawingml/2006/main" name="Office Theme">
  <a:themeElements>
    <a:clrScheme name="ACEM">
      <a:dk1>
        <a:sysClr val="windowText" lastClr="000000"/>
      </a:dk1>
      <a:lt1>
        <a:sysClr val="window" lastClr="FFFFFF"/>
      </a:lt1>
      <a:dk2>
        <a:srgbClr val="575757"/>
      </a:dk2>
      <a:lt2>
        <a:srgbClr val="D6C4A6"/>
      </a:lt2>
      <a:accent1>
        <a:srgbClr val="B81C22"/>
      </a:accent1>
      <a:accent2>
        <a:srgbClr val="D55816"/>
      </a:accent2>
      <a:accent3>
        <a:srgbClr val="B88C50"/>
      </a:accent3>
      <a:accent4>
        <a:srgbClr val="A89A7C"/>
      </a:accent4>
      <a:accent5>
        <a:srgbClr val="7F5F52"/>
      </a:accent5>
      <a:accent6>
        <a:srgbClr val="254865"/>
      </a:accent6>
      <a:hlink>
        <a:srgbClr val="6B9F25"/>
      </a:hlink>
      <a:folHlink>
        <a:srgbClr val="E5C243"/>
      </a:folHlink>
    </a:clrScheme>
    <a:fontScheme name="ACEM office">
      <a:majorFont>
        <a:latin typeface="Arial Black"/>
        <a:ea typeface="Microsoft YaHei"/>
        <a:cs typeface=""/>
      </a:majorFont>
      <a:minorFont>
        <a:latin typeface="Arial"/>
        <a:ea typeface="Microsoft YaHei Light"/>
        <a:cs typeface=""/>
      </a:minorFont>
    </a:fontScheme>
    <a:fmtScheme name="ACEM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2026-10-22T23:26:57.0840000Z</dcterms:created>
  <dcterms:modified xsi:type="dcterms:W3CDTF">2026-10-22T23:26:57.0840000Z</dcterms:modified>
</coreProperties>
</file>